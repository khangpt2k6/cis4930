
<file path=[Content_Types].xml><?xml version="1.0" encoding="utf-8"?>
<Types xmlns="http://schemas.openxmlformats.org/package/2006/content-types">
  <Default Extension="rels" ContentType="application/vnd.openxmlformats-package.relationships+xml"/>
  <Default Extension="png"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260"/>
    <p:restoredTop sz="94610"/>
  </p:normalViewPr>
  <p:slideViewPr>
    <p:cSldViewPr snapToGrid="0" snapToObjects="1">
      <p:cViewPr varScale="1">
        <p:scale>
          <a:sx n="123" d="100"/>
          <a:sy n="123" d="100"/>
        </p:scale>
        <p:origin x="74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982905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USE THIS TEMPLATE (delete nothing on the slide; write your talk script below this block)
1. This is the only slide you present. No title slide, no extra slides, no animations.
2. Do not move, resize, or restyle any box, and do not change a font size. The fonts are fixed so the room can read every team at the same size. If your text does not fit, cut words: the box is the word limit.
3. Paste as plain text (Ctrl+Shift+V on Windows, Cmd+Shift+Option+V on Mac) so you do not import another font size.
4. Box 4 takes exactly one plot. Click the picture icon to insert it. Label both axes and draw the baseline on the same axes.
5. Gate check: for each of the five constraints, write yes, unsure, or no, plus a few words of evidence. "Unsure" is an honest and acceptable answer at Week 9.
6. Status: on track, at risk, or pivoted. Pivoting is fine if box 5 says why.
TIMING: 6 minutes talking, 4 minutes questions. Spend about half your talk on boxes 4 and 5. End on box 7 and wait for an answer.
SUBMIT: save as TeamNN_Midterm.pptx (two-digit team number) and upload to Canvas by the deadline posted there, so all teams can be merged into one deck.
---- YOUR SCRIPT ----</a:t>
            </a:r>
          </a:p>
          <a:p>
            <a:r>
              <a:rPr lang="en-US" dirty="0"/>
              <a:t/>
            </a:r>
          </a:p>
          <a:p>
            <a:r>
              <a:rPr lang="en-US" dirty="0"/>
              <a:t/>
            </a:r>
          </a:p>
          <a:p>
            <a:r>
              <a:rPr lang="en-US" dirty="0"/>
              <a:t>Box 1. The decision (0:30)</a:t>
            </a:r>
          </a:p>
          <a:p>
            <a:r>
              <a:rPr lang="en-US" dirty="0"/>
              <a:t>- Hello, everyone. We are Team 1, and our project examines whether learned indexes still outperform traditional index structures on modern hardware.</a:t>
            </a:r>
          </a:p>
          <a:p>
            <a:r>
              <a:rPr lang="en-US" dirty="0"/>
              <a:t>- Every database lookup must determine where a key is stored within a sorted array. Today, this decision is typically made by a B+tree, which moves from the root to a leaf through a sequence of comparisons. An imprecise step never produces an incorrect result, but each additional step can cause a cache miss, which costs roughly one hundred nanoseconds.</a:t>
            </a:r>
          </a:p>
          <a:p>
            <a:r>
              <a:rPr lang="en-US" dirty="0"/>
              <a:t/>
            </a:r>
          </a:p>
          <a:p>
            <a:r>
              <a:rPr lang="en-US" dirty="0"/>
              <a:t>Box 2. Beat what, exactly? (0:25)</a:t>
            </a:r>
          </a:p>
          <a:p>
            <a:r>
              <a:rPr lang="en-US" dirty="0"/>
              <a:t>- Our baseline is binary search over the sorted array, which is the reference baseline in the SOSD benchmark. On our test machine, it requires 525 nanoseconds per lookup at one hundred million keys. A tuned B+tree will be added as a stronger baseline in the next phase.</a:t>
            </a:r>
          </a:p>
          <a:p>
            <a:r>
              <a:rPr lang="en-US" dirty="0"/>
              <a:t/>
            </a:r>
          </a:p>
          <a:p>
            <a:r>
              <a:rPr lang="en-US" dirty="0"/>
              <a:t>Box 3. Our approach (0:35)</a:t>
            </a:r>
          </a:p>
          <a:p>
            <a:r>
              <a:rPr lang="en-US" dirty="0"/>
              <a:t>- A learned index replaces the tree with a model that predicts the position of a key. We will evaluate four designs: the Recursive Model Index, or RMI, the PGM-index, RadixSpline, and ALEX, which also supports inserts.</a:t>
            </a:r>
          </a:p>
          <a:p>
            <a:r>
              <a:rPr lang="en-US" dirty="0"/>
              <a:t>- Training labels are available at no cost, since they are simply the positions of the keys. Each model also records its maximum prediction error, so a lookup requires one prediction followed by a search within a small, bounded window. The result is therefore always exact.</a:t>
            </a:r>
          </a:p>
          <a:p>
            <a:r>
              <a:rPr lang="en-US" dirty="0"/>
              <a:t/>
            </a:r>
          </a:p>
          <a:p>
            <a:r>
              <a:rPr lang="en-US" dirty="0"/>
              <a:t>Box 4. First result (1:20)</a:t>
            </a:r>
          </a:p>
          <a:p>
            <a:r>
              <a:rPr lang="en-US" dirty="0"/>
              <a:t>- For our first result, we implemented a two-stage RMI and compared it with binary search on uniform and lognormal key distributions, ranging from one hundred thousand to one hundred million keys.</a:t>
            </a:r>
          </a:p>
          <a:p>
            <a:r>
              <a:rPr lang="en-US" dirty="0"/>
              <a:t>- [Point to the axes.] The horizontal axis shows the number of keys, and the vertical axis shows the median time per lookup. The dashed lines represent binary search, and the solid lines represent the learned index.</a:t>
            </a:r>
          </a:p>
          <a:p>
            <a:r>
              <a:rPr lang="en-US" dirty="0"/>
              <a:t>- [Point to the dotted line.] Beyond this line, the data no longer fits in the 16-megabyte L3 cache. Binary search must then wait on main memory several times per lookup, and its latency rises sharply.</a:t>
            </a:r>
          </a:p>
          <a:p>
            <a:r>
              <a:rPr lang="en-US" dirty="0"/>
              <a:t>- [Point to the solid black line.] The learned index remains nearly flat. At one hundred million keys, it reduces the lookup time from 525 to 81 nanoseconds. This is a speedup of approximately 6.5 times, with a model of only 2.3 megabytes.</a:t>
            </a:r>
          </a:p>
          <a:p>
            <a:r>
              <a:rPr lang="en-US" dirty="0"/>
              <a:t>- These measurements were taken on an AMD Ryzen AI 7 350 laptop processor. Each point is the median of five runs of two million random lookups, following a warm-up run.</a:t>
            </a:r>
          </a:p>
          <a:p>
            <a:r>
              <a:rPr lang="en-US" dirty="0"/>
              <a:t/>
            </a:r>
          </a:p>
          <a:p>
            <a:r>
              <a:rPr lang="en-US" dirty="0"/>
              <a:t>Box 5. What surprised us (1:00)</a:t>
            </a:r>
          </a:p>
          <a:p>
            <a:r>
              <a:rPr lang="en-US" dirty="0"/>
              <a:t>- The most significant finding concerns the key distribution. With the same model size, lookups on lognormal keys required 226 nanoseconds, compared with 81 nanoseconds on uniform keys. With a very small model, the learned index was even slower than binary search.</a:t>
            </a:r>
          </a:p>
          <a:p>
            <a:r>
              <a:rPr lang="en-US" dirty="0"/>
              <a:t>- A simple linear model cannot capture a skewed distribution, so its error window, and therefore its search cost, grows. This indicates that results on uniform data overstate the benefit of learned indexes.</a:t>
            </a:r>
          </a:p>
          <a:p>
            <a:r>
              <a:rPr lang="en-US" dirty="0"/>
              <a:t>- We also observed that this processor combines two types of cores. Without pinning the benchmark to a single core, the results were approximately ten percent slower and considerably less stable.</a:t>
            </a:r>
          </a:p>
          <a:p>
            <a:r>
              <a:rPr lang="en-US" dirty="0"/>
              <a:t/>
            </a:r>
          </a:p>
          <a:p>
            <a:r>
              <a:rPr lang="en-US" dirty="0"/>
              <a:t>Box 6. Next six weeks (0:30)</a:t>
            </a:r>
          </a:p>
          <a:p>
            <a:r>
              <a:rPr lang="en-US" dirty="0"/>
              <a:t>- Over the next six weeks, the decisive experiment is the full SOSD benchmark on four real-world datasets, with hardware performance counters, on AMD, Intel, and ARM processors. The principal risk is that the Linux perf tool cannot access hardware counters under WSL or macOS. Our fallback is to use bare-metal cloud instances on AWS.</a:t>
            </a:r>
          </a:p>
          <a:p>
            <a:r>
              <a:rPr lang="en-US" dirty="0"/>
              <a:t/>
            </a:r>
          </a:p>
          <a:p>
            <a:r>
              <a:rPr lang="en-US" dirty="0"/>
              <a:t>Gate check and closing (0:20)</a:t>
            </a:r>
          </a:p>
          <a:p>
            <a:r>
              <a:rPr lang="en-US" dirty="0"/>
              <a:t>- Regarding the gate check, an incorrect prediction is safe, the labels are free, and the model is small. Whether the approach beats a tuned B+tree, and whether it withstands insert-heavy workloads, remains to be determined.</a:t>
            </a:r>
          </a:p>
          <a:p>
            <a:r>
              <a:rPr lang="en-US" dirty="0"/>
              <a:t>- We would like to close with a question for the class: should our next priority be additional real-world datasets, or insert-heavy workloads? Thank you.</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Midterm Progress">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11480" y="237744"/>
            <a:ext cx="8138160" cy="201168"/>
          </a:xfrm>
          <a:prstGeom prst="rect">
            <a:avLst/>
          </a:prstGeom>
          <a:noFill/>
          <a:ln/>
        </p:spPr>
        <p:txBody>
          <a:bodyPr wrap="square" lIns="0" tIns="0" rIns="0" bIns="0" rtlCol="0" anchor="t"/>
          <a:lstStyle/>
          <a:p>
            <a:pPr marL="0" indent="0">
              <a:buNone/>
            </a:pPr>
            <a:r>
              <a:rPr lang="en-US" sz="1000" kern="0" spc="100" dirty="0">
                <a:solidFill>
                  <a:srgbClr val="6B7280"/>
                </a:solidFill>
                <a:latin typeface="Courier New" pitchFamily="34" charset="0"/>
                <a:ea typeface="Courier New" pitchFamily="34" charset="-122"/>
                <a:cs typeface="Courier New" pitchFamily="34" charset="-120"/>
              </a:rPr>
              <a:t>CIS 4930/6930  ML FOR COMPUTER SYSTEMS PROGRESS REPORT</a:t>
            </a:r>
            <a:endParaRPr lang="en-US" sz="1000" dirty="0"/>
          </a:p>
        </p:txBody>
      </p:sp>
      <p:sp>
        <p:nvSpPr>
          <p:cNvPr id="3" name="Text 1"/>
          <p:cNvSpPr>
            <a:spLocks noGrp="1"/>
          </p:cNvSpPr>
          <p:nvPr>
            <p:ph type="body" idx="101" hasCustomPrompt="1"/>
          </p:nvPr>
        </p:nvSpPr>
        <p:spPr>
          <a:xfrm>
            <a:off x="411480" y="420624"/>
            <a:ext cx="8183880" cy="694944"/>
          </a:xfrm>
          <a:prstGeom prst="rect">
            <a:avLst/>
          </a:prstGeom>
          <a:noFill/>
          <a:ln/>
        </p:spPr>
        <p:txBody>
          <a:bodyPr wrap="square" lIns="0" tIns="27432" rIns="0" bIns="0" rtlCol="0" anchor="b">
            <a:noAutofit/>
          </a:bodyPr>
          <a:lstStyle>
            <a:lvl1pPr marL="0" indent="0">
              <a:buNone/>
              <a:defRPr lang="en-US" sz="2200" b="1" dirty="0">
                <a:solidFill>
                  <a:srgbClr val="1C3557"/>
                </a:solidFill>
                <a:latin typeface="Arial" pitchFamily="34" charset="0"/>
                <a:ea typeface="Arial" pitchFamily="34" charset="-122"/>
                <a:cs typeface="Arial" pitchFamily="34" charset="-120"/>
              </a:defRPr>
            </a:lvl1pPr>
          </a:lstStyle>
          <a:p>
            <a:pPr marL="0" indent="0">
              <a:buNone/>
            </a:pPr>
            <a:r>
              <a:rPr lang="en-US" sz="2200" b="1" i="1" dirty="0">
                <a:solidFill>
                  <a:srgbClr val="9AA0A6"/>
                </a:solidFill>
                <a:latin typeface="Arial" pitchFamily="34" charset="0"/>
                <a:ea typeface="Arial" pitchFamily="34" charset="-122"/>
                <a:cs typeface="Arial" pitchFamily="34" charset="-120"/>
              </a:rPr>
              <a:t>Project title</a:t>
            </a:r>
            <a:endParaRPr lang="en-US" sz="2200" dirty="0"/>
          </a:p>
        </p:txBody>
      </p:sp>
      <p:sp>
        <p:nvSpPr>
          <p:cNvPr id="5" name="Text 1"/>
          <p:cNvSpPr/>
          <p:nvPr/>
        </p:nvSpPr>
        <p:spPr>
          <a:xfrm>
            <a:off x="8823960" y="457200"/>
            <a:ext cx="914400" cy="201168"/>
          </a:xfrm>
          <a:prstGeom prst="rect">
            <a:avLst/>
          </a:prstGeom>
          <a:noFill/>
          <a:ln/>
        </p:spPr>
        <p:txBody>
          <a:bodyPr wrap="square" lIns="0" tIns="0" rIns="0" bIns="0" rtlCol="0" anchor="t"/>
          <a:lstStyle/>
          <a:p>
            <a:pPr marL="0" indent="0">
              <a:buNone/>
            </a:pPr>
            <a:r>
              <a:rPr lang="en-US" sz="1000" kern="0" spc="100" dirty="0">
                <a:solidFill>
                  <a:srgbClr val="6B7280"/>
                </a:solidFill>
                <a:latin typeface="Courier New" pitchFamily="34" charset="0"/>
                <a:ea typeface="Courier New" pitchFamily="34" charset="-122"/>
                <a:cs typeface="Courier New" pitchFamily="34" charset="-120"/>
              </a:rPr>
              <a:t>TEAM</a:t>
            </a:r>
            <a:endParaRPr lang="en-US" sz="1000" dirty="0"/>
          </a:p>
        </p:txBody>
      </p:sp>
      <p:sp>
        <p:nvSpPr>
          <p:cNvPr id="6" name="Text 2"/>
          <p:cNvSpPr/>
          <p:nvPr/>
        </p:nvSpPr>
        <p:spPr>
          <a:xfrm>
            <a:off x="9921240" y="457200"/>
            <a:ext cx="1856232" cy="201168"/>
          </a:xfrm>
          <a:prstGeom prst="rect">
            <a:avLst/>
          </a:prstGeom>
          <a:noFill/>
          <a:ln/>
        </p:spPr>
        <p:txBody>
          <a:bodyPr wrap="square" lIns="0" tIns="0" rIns="0" bIns="0" rtlCol="0" anchor="t"/>
          <a:lstStyle/>
          <a:p>
            <a:pPr marL="0" indent="0">
              <a:buNone/>
            </a:pPr>
            <a:r>
              <a:rPr lang="en-US" sz="1000" kern="0" spc="100" dirty="0">
                <a:solidFill>
                  <a:srgbClr val="6B7280"/>
                </a:solidFill>
                <a:latin typeface="Courier New" pitchFamily="34" charset="0"/>
                <a:ea typeface="Courier New" pitchFamily="34" charset="-122"/>
                <a:cs typeface="Courier New" pitchFamily="34" charset="-120"/>
              </a:rPr>
              <a:t>LAYER OF THE STACK</a:t>
            </a:r>
            <a:endParaRPr lang="en-US" sz="1000" dirty="0"/>
          </a:p>
        </p:txBody>
      </p:sp>
      <p:sp>
        <p:nvSpPr>
          <p:cNvPr id="7" name="Text 3"/>
          <p:cNvSpPr>
            <a:spLocks noGrp="1"/>
          </p:cNvSpPr>
          <p:nvPr>
            <p:ph type="body" idx="105" hasCustomPrompt="1"/>
          </p:nvPr>
        </p:nvSpPr>
        <p:spPr>
          <a:xfrm>
            <a:off x="8823960" y="640080"/>
            <a:ext cx="960120" cy="384048"/>
          </a:xfrm>
          <a:prstGeom prst="rect">
            <a:avLst/>
          </a:prstGeom>
          <a:noFill/>
          <a:ln/>
        </p:spPr>
        <p:txBody>
          <a:bodyPr wrap="square" lIns="0" tIns="27432" rIns="0" bIns="0" rtlCol="0" anchor="t">
            <a:noAutofit/>
          </a:bodyPr>
          <a:lstStyle>
            <a:lvl1pPr marL="0" indent="0">
              <a:buNone/>
              <a:defRPr lang="en-US" sz="2200" b="1" dirty="0">
                <a:solidFill>
                  <a:srgbClr val="B5431F"/>
                </a:solidFill>
                <a:latin typeface="Arial" pitchFamily="34" charset="0"/>
                <a:ea typeface="Arial" pitchFamily="34" charset="-122"/>
                <a:cs typeface="Arial" pitchFamily="34" charset="-120"/>
              </a:defRPr>
            </a:lvl1pPr>
          </a:lstStyle>
          <a:p>
            <a:pPr marL="0" indent="0">
              <a:buNone/>
            </a:pPr>
            <a:r>
              <a:rPr lang="en-US" sz="2200" b="1" i="1" dirty="0">
                <a:solidFill>
                  <a:srgbClr val="9AA0A6"/>
                </a:solidFill>
                <a:latin typeface="Arial" pitchFamily="34" charset="0"/>
                <a:ea typeface="Arial" pitchFamily="34" charset="-122"/>
                <a:cs typeface="Arial" pitchFamily="34" charset="-120"/>
              </a:rPr>
              <a:t>00</a:t>
            </a:r>
            <a:endParaRPr lang="en-US" sz="2200" dirty="0"/>
          </a:p>
        </p:txBody>
      </p:sp>
      <p:sp>
        <p:nvSpPr>
          <p:cNvPr id="8" name="Text 3"/>
          <p:cNvSpPr>
            <a:spLocks noGrp="1"/>
          </p:cNvSpPr>
          <p:nvPr>
            <p:ph type="body" idx="106" hasCustomPrompt="1"/>
          </p:nvPr>
        </p:nvSpPr>
        <p:spPr>
          <a:xfrm>
            <a:off x="9921240" y="658368"/>
            <a:ext cx="1856232" cy="365760"/>
          </a:xfrm>
          <a:prstGeom prst="rect">
            <a:avLst/>
          </a:prstGeom>
          <a:noFill/>
          <a:ln/>
        </p:spPr>
        <p:txBody>
          <a:bodyPr wrap="square" lIns="0" tIns="27432" rIns="0" bIns="0" rtlCol="0" anchor="t">
            <a:noAutofit/>
          </a:bodyPr>
          <a:lstStyle>
            <a:lvl1pPr marL="0" indent="0">
              <a:buNone/>
              <a:defRPr lang="en-US" sz="1600" b="1" dirty="0">
                <a:solidFill>
                  <a:srgbClr val="2E8A80"/>
                </a:solidFill>
                <a:latin typeface="Arial" pitchFamily="34" charset="0"/>
                <a:ea typeface="Arial" pitchFamily="34" charset="-122"/>
                <a:cs typeface="Arial" pitchFamily="34" charset="-120"/>
              </a:defRPr>
            </a:lvl1pPr>
          </a:lstStyle>
          <a:p>
            <a:pPr marL="0" indent="0">
              <a:buNone/>
            </a:pPr>
            <a:r>
              <a:rPr lang="en-US" sz="1600" b="1" i="1" dirty="0">
                <a:solidFill>
                  <a:srgbClr val="9AA0A6"/>
                </a:solidFill>
                <a:latin typeface="Arial" pitchFamily="34" charset="0"/>
                <a:ea typeface="Arial" pitchFamily="34" charset="-122"/>
                <a:cs typeface="Arial" pitchFamily="34" charset="-120"/>
              </a:rPr>
              <a:t>e.g. COMPILER</a:t>
            </a:r>
            <a:endParaRPr lang="en-US" sz="1600" dirty="0"/>
          </a:p>
        </p:txBody>
      </p:sp>
      <p:sp>
        <p:nvSpPr>
          <p:cNvPr id="9" name="Text 3"/>
          <p:cNvSpPr/>
          <p:nvPr/>
        </p:nvSpPr>
        <p:spPr>
          <a:xfrm>
            <a:off x="8823960" y="1097280"/>
            <a:ext cx="914400" cy="201168"/>
          </a:xfrm>
          <a:prstGeom prst="rect">
            <a:avLst/>
          </a:prstGeom>
          <a:noFill/>
          <a:ln/>
        </p:spPr>
        <p:txBody>
          <a:bodyPr wrap="square" lIns="0" tIns="0" rIns="0" bIns="0" rtlCol="0" anchor="t"/>
          <a:lstStyle/>
          <a:p>
            <a:pPr marL="0" indent="0">
              <a:buNone/>
            </a:pPr>
            <a:r>
              <a:rPr lang="en-US" sz="1000" kern="0" spc="100" dirty="0">
                <a:solidFill>
                  <a:srgbClr val="6B7280"/>
                </a:solidFill>
                <a:latin typeface="Courier New" pitchFamily="34" charset="0"/>
                <a:ea typeface="Courier New" pitchFamily="34" charset="-122"/>
                <a:cs typeface="Courier New" pitchFamily="34" charset="-120"/>
              </a:rPr>
              <a:t>STATUS</a:t>
            </a:r>
            <a:endParaRPr lang="en-US" sz="1000" dirty="0"/>
          </a:p>
        </p:txBody>
      </p:sp>
      <p:sp>
        <p:nvSpPr>
          <p:cNvPr id="11" name="Shape 4"/>
          <p:cNvSpPr/>
          <p:nvPr/>
        </p:nvSpPr>
        <p:spPr>
          <a:xfrm>
            <a:off x="411480" y="1499616"/>
            <a:ext cx="11365992" cy="0"/>
          </a:xfrm>
          <a:prstGeom prst="line">
            <a:avLst/>
          </a:prstGeom>
          <a:noFill/>
          <a:ln w="9525">
            <a:solidFill>
              <a:srgbClr val="C9CED6"/>
            </a:solidFill>
            <a:prstDash val="solid"/>
          </a:ln>
        </p:spPr>
        <p:txBody>
          <a:bodyPr/>
          <a:lstStyle/>
          <a:p>
            <a:endParaRPr lang="en-US"/>
          </a:p>
        </p:txBody>
      </p:sp>
      <p:sp>
        <p:nvSpPr>
          <p:cNvPr id="12" name="Text 5"/>
          <p:cNvSpPr/>
          <p:nvPr/>
        </p:nvSpPr>
        <p:spPr>
          <a:xfrm>
            <a:off x="411480" y="1600200"/>
            <a:ext cx="256032" cy="274320"/>
          </a:xfrm>
          <a:prstGeom prst="rect">
            <a:avLst/>
          </a:prstGeom>
          <a:noFill/>
          <a:ln/>
        </p:spPr>
        <p:txBody>
          <a:bodyPr wrap="square" lIns="0" tIns="0" rIns="0" bIns="0" rtlCol="0" anchor="t"/>
          <a:lstStyle/>
          <a:p>
            <a:pPr marL="0" indent="0">
              <a:buNone/>
            </a:pPr>
            <a:r>
              <a:rPr lang="en-US" sz="1400" b="1" dirty="0">
                <a:solidFill>
                  <a:srgbClr val="B5431F"/>
                </a:solidFill>
                <a:latin typeface="Courier New" pitchFamily="34" charset="0"/>
                <a:ea typeface="Courier New" pitchFamily="34" charset="-122"/>
                <a:cs typeface="Courier New" pitchFamily="34" charset="-120"/>
              </a:rPr>
              <a:t>1</a:t>
            </a:r>
            <a:endParaRPr lang="en-US" sz="1400" dirty="0"/>
          </a:p>
        </p:txBody>
      </p:sp>
      <p:sp>
        <p:nvSpPr>
          <p:cNvPr id="13" name="Text 6"/>
          <p:cNvSpPr/>
          <p:nvPr/>
        </p:nvSpPr>
        <p:spPr>
          <a:xfrm>
            <a:off x="667512" y="1600200"/>
            <a:ext cx="3264408" cy="274320"/>
          </a:xfrm>
          <a:prstGeom prst="rect">
            <a:avLst/>
          </a:prstGeom>
          <a:noFill/>
          <a:ln/>
        </p:spPr>
        <p:txBody>
          <a:bodyPr wrap="square" lIns="0" tIns="0" rIns="0" bIns="0" rtlCol="0" anchor="t"/>
          <a:lstStyle/>
          <a:p>
            <a:pPr marL="0" indent="0">
              <a:buNone/>
            </a:pPr>
            <a:r>
              <a:rPr lang="en-US" sz="1400" b="1" dirty="0">
                <a:solidFill>
                  <a:srgbClr val="1C3557"/>
                </a:solidFill>
                <a:latin typeface="Arial" pitchFamily="34" charset="0"/>
                <a:ea typeface="Arial" pitchFamily="34" charset="-122"/>
                <a:cs typeface="Arial" pitchFamily="34" charset="-120"/>
              </a:rPr>
              <a:t>The decision</a:t>
            </a:r>
            <a:endParaRPr lang="en-US" sz="1400" dirty="0"/>
          </a:p>
        </p:txBody>
      </p:sp>
      <p:sp>
        <p:nvSpPr>
          <p:cNvPr id="14" name="Text 7"/>
          <p:cNvSpPr>
            <a:spLocks noGrp="1"/>
          </p:cNvSpPr>
          <p:nvPr>
            <p:ph type="body" idx="112" hasCustomPrompt="1"/>
          </p:nvPr>
        </p:nvSpPr>
        <p:spPr>
          <a:xfrm>
            <a:off x="411480" y="1892808"/>
            <a:ext cx="3520440" cy="960120"/>
          </a:xfrm>
          <a:prstGeom prst="rect">
            <a:avLst/>
          </a:prstGeom>
          <a:noFill/>
          <a:ln/>
        </p:spPr>
        <p:txBody>
          <a:bodyPr wrap="square" lIns="0" tIns="27432" rIns="0" bIns="0" rtlCol="0" anchor="t">
            <a:noAutofit/>
          </a:bodyPr>
          <a:lstStyle>
            <a:lvl1pPr marL="0" indent="0">
              <a:buNone/>
              <a:defRPr lang="en-US" sz="1400" dirty="0">
                <a:solidFill>
                  <a:srgbClr val="1F2937"/>
                </a:solidFill>
                <a:latin typeface="Arial" pitchFamily="34" charset="0"/>
                <a:ea typeface="Arial" pitchFamily="34" charset="-122"/>
                <a:cs typeface="Arial" pitchFamily="34" charset="-120"/>
              </a:defRPr>
            </a:lvl1pPr>
          </a:lstStyle>
          <a:p>
            <a:pPr marL="0" indent="0">
              <a:buNone/>
            </a:pPr>
            <a:r>
              <a:rPr lang="en-US" sz="1400" i="1" dirty="0">
                <a:solidFill>
                  <a:srgbClr val="9AA0A6"/>
                </a:solidFill>
                <a:latin typeface="Arial" pitchFamily="34" charset="0"/>
                <a:ea typeface="Arial" pitchFamily="34" charset="-122"/>
                <a:cs typeface="Arial" pitchFamily="34" charset="-120"/>
              </a:rPr>
              <a:t>What does the system decide today, who decides it, and what does a bad decision cost? Max 25 words.</a:t>
            </a:r>
            <a:endParaRPr lang="en-US" sz="1400" dirty="0"/>
          </a:p>
        </p:txBody>
      </p:sp>
      <p:sp>
        <p:nvSpPr>
          <p:cNvPr id="15" name="Text 7"/>
          <p:cNvSpPr/>
          <p:nvPr/>
        </p:nvSpPr>
        <p:spPr>
          <a:xfrm>
            <a:off x="411480" y="2990088"/>
            <a:ext cx="256032" cy="274320"/>
          </a:xfrm>
          <a:prstGeom prst="rect">
            <a:avLst/>
          </a:prstGeom>
          <a:noFill/>
          <a:ln/>
        </p:spPr>
        <p:txBody>
          <a:bodyPr wrap="square" lIns="0" tIns="0" rIns="0" bIns="0" rtlCol="0" anchor="t"/>
          <a:lstStyle/>
          <a:p>
            <a:pPr marL="0" indent="0">
              <a:buNone/>
            </a:pPr>
            <a:r>
              <a:rPr lang="en-US" sz="1400" b="1" dirty="0">
                <a:solidFill>
                  <a:srgbClr val="B5431F"/>
                </a:solidFill>
                <a:latin typeface="Courier New" pitchFamily="34" charset="0"/>
                <a:ea typeface="Courier New" pitchFamily="34" charset="-122"/>
                <a:cs typeface="Courier New" pitchFamily="34" charset="-120"/>
              </a:rPr>
              <a:t>2</a:t>
            </a:r>
            <a:endParaRPr lang="en-US" sz="1400" dirty="0"/>
          </a:p>
        </p:txBody>
      </p:sp>
      <p:sp>
        <p:nvSpPr>
          <p:cNvPr id="16" name="Text 8"/>
          <p:cNvSpPr/>
          <p:nvPr/>
        </p:nvSpPr>
        <p:spPr>
          <a:xfrm>
            <a:off x="667512" y="2990088"/>
            <a:ext cx="3264408" cy="274320"/>
          </a:xfrm>
          <a:prstGeom prst="rect">
            <a:avLst/>
          </a:prstGeom>
          <a:noFill/>
          <a:ln/>
        </p:spPr>
        <p:txBody>
          <a:bodyPr wrap="square" lIns="0" tIns="0" rIns="0" bIns="0" rtlCol="0" anchor="t"/>
          <a:lstStyle/>
          <a:p>
            <a:pPr marL="0" indent="0">
              <a:buNone/>
            </a:pPr>
            <a:r>
              <a:rPr lang="en-US" sz="1400" b="1" dirty="0">
                <a:solidFill>
                  <a:srgbClr val="1C3557"/>
                </a:solidFill>
                <a:latin typeface="Arial" pitchFamily="34" charset="0"/>
                <a:ea typeface="Arial" pitchFamily="34" charset="-122"/>
                <a:cs typeface="Arial" pitchFamily="34" charset="-120"/>
              </a:rPr>
              <a:t>Beat what, exactly?</a:t>
            </a:r>
            <a:endParaRPr lang="en-US" sz="1400" dirty="0"/>
          </a:p>
        </p:txBody>
      </p:sp>
      <p:sp>
        <p:nvSpPr>
          <p:cNvPr id="17" name="Text 9"/>
          <p:cNvSpPr>
            <a:spLocks noGrp="1"/>
          </p:cNvSpPr>
          <p:nvPr>
            <p:ph type="body" idx="115" hasCustomPrompt="1"/>
          </p:nvPr>
        </p:nvSpPr>
        <p:spPr>
          <a:xfrm>
            <a:off x="411480" y="3282696"/>
            <a:ext cx="3520440" cy="960120"/>
          </a:xfrm>
          <a:prstGeom prst="rect">
            <a:avLst/>
          </a:prstGeom>
          <a:noFill/>
          <a:ln/>
        </p:spPr>
        <p:txBody>
          <a:bodyPr wrap="square" lIns="0" tIns="27432" rIns="0" bIns="0" rtlCol="0" anchor="t">
            <a:noAutofit/>
          </a:bodyPr>
          <a:lstStyle>
            <a:lvl1pPr marL="0" indent="0">
              <a:buNone/>
              <a:defRPr lang="en-US" sz="1400" dirty="0">
                <a:solidFill>
                  <a:srgbClr val="1F2937"/>
                </a:solidFill>
                <a:latin typeface="Arial" pitchFamily="34" charset="0"/>
                <a:ea typeface="Arial" pitchFamily="34" charset="-122"/>
                <a:cs typeface="Arial" pitchFamily="34" charset="-120"/>
              </a:defRPr>
            </a:lvl1pPr>
          </a:lstStyle>
          <a:p>
            <a:pPr marL="0" indent="0">
              <a:buNone/>
            </a:pPr>
            <a:r>
              <a:rPr lang="en-US" sz="1400" i="1" dirty="0">
                <a:solidFill>
                  <a:srgbClr val="9AA0A6"/>
                </a:solidFill>
                <a:latin typeface="Arial" pitchFamily="34" charset="0"/>
                <a:ea typeface="Arial" pitchFamily="34" charset="-122"/>
                <a:cs typeface="Arial" pitchFamily="34" charset="-120"/>
              </a:rPr>
              <a:t>The baseline you must beat, where it comes from, how hard you tuned it, and its number. Max 25 words.</a:t>
            </a:r>
            <a:endParaRPr lang="en-US" sz="1400" dirty="0"/>
          </a:p>
        </p:txBody>
      </p:sp>
      <p:sp>
        <p:nvSpPr>
          <p:cNvPr id="18" name="Text 9"/>
          <p:cNvSpPr/>
          <p:nvPr/>
        </p:nvSpPr>
        <p:spPr>
          <a:xfrm>
            <a:off x="411480" y="4379976"/>
            <a:ext cx="256032" cy="274320"/>
          </a:xfrm>
          <a:prstGeom prst="rect">
            <a:avLst/>
          </a:prstGeom>
          <a:noFill/>
          <a:ln/>
        </p:spPr>
        <p:txBody>
          <a:bodyPr wrap="square" lIns="0" tIns="0" rIns="0" bIns="0" rtlCol="0" anchor="t"/>
          <a:lstStyle/>
          <a:p>
            <a:pPr marL="0" indent="0">
              <a:buNone/>
            </a:pPr>
            <a:r>
              <a:rPr lang="en-US" sz="1400" b="1" dirty="0">
                <a:solidFill>
                  <a:srgbClr val="B5431F"/>
                </a:solidFill>
                <a:latin typeface="Courier New" pitchFamily="34" charset="0"/>
                <a:ea typeface="Courier New" pitchFamily="34" charset="-122"/>
                <a:cs typeface="Courier New" pitchFamily="34" charset="-120"/>
              </a:rPr>
              <a:t>3</a:t>
            </a:r>
            <a:endParaRPr lang="en-US" sz="1400" dirty="0"/>
          </a:p>
        </p:txBody>
      </p:sp>
      <p:sp>
        <p:nvSpPr>
          <p:cNvPr id="19" name="Text 10"/>
          <p:cNvSpPr/>
          <p:nvPr/>
        </p:nvSpPr>
        <p:spPr>
          <a:xfrm>
            <a:off x="667512" y="4379976"/>
            <a:ext cx="3264408" cy="274320"/>
          </a:xfrm>
          <a:prstGeom prst="rect">
            <a:avLst/>
          </a:prstGeom>
          <a:noFill/>
          <a:ln/>
        </p:spPr>
        <p:txBody>
          <a:bodyPr wrap="square" lIns="0" tIns="0" rIns="0" bIns="0" rtlCol="0" anchor="t"/>
          <a:lstStyle/>
          <a:p>
            <a:pPr marL="0" indent="0">
              <a:buNone/>
            </a:pPr>
            <a:r>
              <a:rPr lang="en-US" sz="1400" b="1" dirty="0">
                <a:solidFill>
                  <a:srgbClr val="1C3557"/>
                </a:solidFill>
                <a:latin typeface="Arial" pitchFamily="34" charset="0"/>
                <a:ea typeface="Arial" pitchFamily="34" charset="-122"/>
                <a:cs typeface="Arial" pitchFamily="34" charset="-120"/>
              </a:rPr>
              <a:t>Our approach</a:t>
            </a:r>
            <a:endParaRPr lang="en-US" sz="1400" dirty="0"/>
          </a:p>
        </p:txBody>
      </p:sp>
      <p:sp>
        <p:nvSpPr>
          <p:cNvPr id="20" name="Text 11"/>
          <p:cNvSpPr>
            <a:spLocks noGrp="1"/>
          </p:cNvSpPr>
          <p:nvPr>
            <p:ph type="body" idx="118" hasCustomPrompt="1"/>
          </p:nvPr>
        </p:nvSpPr>
        <p:spPr>
          <a:xfrm>
            <a:off x="411480" y="4672584"/>
            <a:ext cx="3520440" cy="1133856"/>
          </a:xfrm>
          <a:prstGeom prst="rect">
            <a:avLst/>
          </a:prstGeom>
          <a:noFill/>
          <a:ln/>
        </p:spPr>
        <p:txBody>
          <a:bodyPr wrap="square" lIns="0" tIns="27432" rIns="0" bIns="0" rtlCol="0" anchor="t">
            <a:noAutofit/>
          </a:bodyPr>
          <a:lstStyle>
            <a:lvl1pPr marL="0" indent="0">
              <a:buNone/>
              <a:defRPr lang="en-US" sz="1400" dirty="0">
                <a:solidFill>
                  <a:srgbClr val="1F2937"/>
                </a:solidFill>
                <a:latin typeface="Arial" pitchFamily="34" charset="0"/>
                <a:ea typeface="Arial" pitchFamily="34" charset="-122"/>
                <a:cs typeface="Arial" pitchFamily="34" charset="-120"/>
              </a:defRPr>
            </a:lvl1pPr>
          </a:lstStyle>
          <a:p>
            <a:pPr marL="0" indent="0">
              <a:buNone/>
            </a:pPr>
            <a:r>
              <a:rPr lang="en-US" sz="1400" i="1" dirty="0">
                <a:solidFill>
                  <a:srgbClr val="9AA0A6"/>
                </a:solidFill>
                <a:latin typeface="Arial" pitchFamily="34" charset="0"/>
                <a:ea typeface="Arial" pitchFamily="34" charset="-122"/>
                <a:cs typeface="Arial" pitchFamily="34" charset="-120"/>
              </a:rPr>
              <a:t>Model, its inputs, where the labels come from, and the cost of one inference. Max 30 words.</a:t>
            </a:r>
            <a:endParaRPr lang="en-US" sz="1400" dirty="0"/>
          </a:p>
        </p:txBody>
      </p:sp>
      <p:sp>
        <p:nvSpPr>
          <p:cNvPr id="21" name="Text 11"/>
          <p:cNvSpPr/>
          <p:nvPr/>
        </p:nvSpPr>
        <p:spPr>
          <a:xfrm>
            <a:off x="4206240" y="1600200"/>
            <a:ext cx="256032" cy="274320"/>
          </a:xfrm>
          <a:prstGeom prst="rect">
            <a:avLst/>
          </a:prstGeom>
          <a:noFill/>
          <a:ln/>
        </p:spPr>
        <p:txBody>
          <a:bodyPr wrap="square" lIns="0" tIns="0" rIns="0" bIns="0" rtlCol="0" anchor="t"/>
          <a:lstStyle/>
          <a:p>
            <a:pPr marL="0" indent="0">
              <a:buNone/>
            </a:pPr>
            <a:r>
              <a:rPr lang="en-US" sz="1400" b="1" dirty="0">
                <a:solidFill>
                  <a:srgbClr val="B5431F"/>
                </a:solidFill>
                <a:latin typeface="Courier New" pitchFamily="34" charset="0"/>
                <a:ea typeface="Courier New" pitchFamily="34" charset="-122"/>
                <a:cs typeface="Courier New" pitchFamily="34" charset="-120"/>
              </a:rPr>
              <a:t>4</a:t>
            </a:r>
            <a:endParaRPr lang="en-US" sz="1400" dirty="0"/>
          </a:p>
        </p:txBody>
      </p:sp>
      <p:sp>
        <p:nvSpPr>
          <p:cNvPr id="22" name="Text 12"/>
          <p:cNvSpPr/>
          <p:nvPr/>
        </p:nvSpPr>
        <p:spPr>
          <a:xfrm>
            <a:off x="4462272" y="1600200"/>
            <a:ext cx="3950208" cy="274320"/>
          </a:xfrm>
          <a:prstGeom prst="rect">
            <a:avLst/>
          </a:prstGeom>
          <a:noFill/>
          <a:ln/>
        </p:spPr>
        <p:txBody>
          <a:bodyPr wrap="square" lIns="0" tIns="0" rIns="0" bIns="0" rtlCol="0" anchor="t"/>
          <a:lstStyle/>
          <a:p>
            <a:pPr marL="0" indent="0">
              <a:buNone/>
            </a:pPr>
            <a:r>
              <a:rPr lang="en-US" sz="1400" b="1" dirty="0">
                <a:solidFill>
                  <a:srgbClr val="1C3557"/>
                </a:solidFill>
                <a:latin typeface="Arial" pitchFamily="34" charset="0"/>
                <a:ea typeface="Arial" pitchFamily="34" charset="-122"/>
                <a:cs typeface="Arial" pitchFamily="34" charset="-120"/>
              </a:rPr>
              <a:t>First result</a:t>
            </a:r>
            <a:endParaRPr lang="en-US" sz="1400" dirty="0"/>
          </a:p>
        </p:txBody>
      </p:sp>
      <p:sp>
        <p:nvSpPr>
          <p:cNvPr id="23" name="Shape 13"/>
          <p:cNvSpPr/>
          <p:nvPr/>
        </p:nvSpPr>
        <p:spPr>
          <a:xfrm>
            <a:off x="4206240" y="1892808"/>
            <a:ext cx="4206240" cy="2606040"/>
          </a:xfrm>
          <a:prstGeom prst="rect">
            <a:avLst/>
          </a:prstGeom>
          <a:ln w="9525">
            <a:solidFill>
              <a:srgbClr val="C9CED6"/>
            </a:solidFill>
            <a:prstDash val="solid"/>
          </a:ln>
        </p:spPr>
        <p:txBody>
          <a:bodyPr/>
          <a:lstStyle/>
          <a:p>
            <a:endParaRPr lang="en-US"/>
          </a:p>
        </p:txBody>
      </p:sp>
      <p:sp>
        <p:nvSpPr>
          <p:cNvPr id="24" name="Text 14"/>
          <p:cNvSpPr>
            <a:spLocks noGrp="1"/>
          </p:cNvSpPr>
          <p:nvPr>
            <p:ph type="pic" idx="122" hasCustomPrompt="1"/>
          </p:nvPr>
        </p:nvSpPr>
        <p:spPr>
          <a:xfrm>
            <a:off x="4206240" y="1892808"/>
            <a:ext cx="4206240" cy="2606040"/>
          </a:xfrm>
          <a:prstGeom prst="rect">
            <a:avLst/>
          </a:prstGeom>
          <a:noFill/>
          <a:ln/>
        </p:spPr>
        <p:txBody>
          <a:bodyPr wrap="square" lIns="91440" tIns="91440" rIns="91440" bIns="91440" rtlCol="0" anchor="ctr">
            <a:noAutofit/>
          </a:bodyPr>
          <a:lstStyle>
            <a:lvl1pPr marL="0" indent="0" algn="ctr">
              <a:buNone/>
              <a:defRPr lang="en-US" sz="1400" dirty="0">
                <a:solidFill>
                  <a:srgbClr val="6B7280"/>
                </a:solidFill>
                <a:latin typeface="Arial" pitchFamily="34" charset="0"/>
                <a:ea typeface="Arial" pitchFamily="34" charset="-122"/>
                <a:cs typeface="Arial" pitchFamily="34" charset="-120"/>
              </a:defRPr>
            </a:lvl1pPr>
          </a:lstStyle>
          <a:p>
            <a:pPr marL="0" indent="0" algn="ctr">
              <a:buNone/>
            </a:pPr>
            <a:r>
              <a:rPr lang="en-US" sz="1400" i="1" dirty="0">
                <a:solidFill>
                  <a:srgbClr val="9AA0A6"/>
                </a:solidFill>
                <a:latin typeface="Arial" pitchFamily="34" charset="0"/>
                <a:ea typeface="Arial" pitchFamily="34" charset="-122"/>
                <a:cs typeface="Arial" pitchFamily="34" charset="-120"/>
              </a:rPr>
              <a:t>Insert ONE plot. Label both axes. Put the baseline on the same axes. Or table or text is also fine</a:t>
            </a:r>
            <a:endParaRPr lang="en-US" sz="1400" dirty="0"/>
          </a:p>
        </p:txBody>
      </p:sp>
      <p:sp>
        <p:nvSpPr>
          <p:cNvPr id="25" name="Text 14"/>
          <p:cNvSpPr>
            <a:spLocks noGrp="1"/>
          </p:cNvSpPr>
          <p:nvPr>
            <p:ph type="body" idx="123" hasCustomPrompt="1"/>
          </p:nvPr>
        </p:nvSpPr>
        <p:spPr>
          <a:xfrm>
            <a:off x="4206240" y="4590288"/>
            <a:ext cx="4206240" cy="603504"/>
          </a:xfrm>
          <a:prstGeom prst="rect">
            <a:avLst/>
          </a:prstGeom>
          <a:noFill/>
          <a:ln/>
        </p:spPr>
        <p:txBody>
          <a:bodyPr wrap="square" lIns="0" tIns="27432" rIns="0" bIns="0" rtlCol="0" anchor="t">
            <a:noAutofit/>
          </a:bodyPr>
          <a:lstStyle>
            <a:lvl1pPr marL="0" indent="0">
              <a:buNone/>
              <a:defRPr lang="en-US" sz="1600" b="1" dirty="0">
                <a:solidFill>
                  <a:srgbClr val="1C3557"/>
                </a:solidFill>
                <a:latin typeface="Arial" pitchFamily="34" charset="0"/>
                <a:ea typeface="Arial" pitchFamily="34" charset="-122"/>
                <a:cs typeface="Arial" pitchFamily="34" charset="-120"/>
              </a:defRPr>
            </a:lvl1pPr>
          </a:lstStyle>
          <a:p>
            <a:pPr marL="0" indent="0">
              <a:buNone/>
            </a:pPr>
            <a:r>
              <a:rPr lang="en-US" sz="1600" b="1" i="1" dirty="0">
                <a:solidFill>
                  <a:srgbClr val="9AA0A6"/>
                </a:solidFill>
                <a:latin typeface="Arial" pitchFamily="34" charset="0"/>
                <a:ea typeface="Arial" pitchFamily="34" charset="-122"/>
                <a:cs typeface="Arial" pitchFamily="34" charset="-120"/>
              </a:rPr>
              <a:t>One sentence, one number: what the plot/result shows</a:t>
            </a:r>
            <a:endParaRPr lang="en-US" sz="1600" dirty="0"/>
          </a:p>
        </p:txBody>
      </p:sp>
      <p:sp>
        <p:nvSpPr>
          <p:cNvPr id="26" name="Text 14"/>
          <p:cNvSpPr>
            <a:spLocks noGrp="1"/>
          </p:cNvSpPr>
          <p:nvPr>
            <p:ph type="body" idx="124" hasCustomPrompt="1"/>
          </p:nvPr>
        </p:nvSpPr>
        <p:spPr>
          <a:xfrm>
            <a:off x="4206240" y="5230368"/>
            <a:ext cx="4206240" cy="576072"/>
          </a:xfrm>
          <a:prstGeom prst="rect">
            <a:avLst/>
          </a:prstGeom>
          <a:noFill/>
          <a:ln/>
        </p:spPr>
        <p:txBody>
          <a:bodyPr wrap="square" lIns="0" tIns="27432" rIns="0" bIns="0" rtlCol="0" anchor="t">
            <a:noAutofit/>
          </a:bodyPr>
          <a:lstStyle>
            <a:lvl1pPr marL="0" indent="0">
              <a:buNone/>
              <a:defRPr lang="en-US" sz="1200" dirty="0">
                <a:solidFill>
                  <a:srgbClr val="6B7280"/>
                </a:solidFill>
                <a:latin typeface="Arial" pitchFamily="34" charset="0"/>
                <a:ea typeface="Arial" pitchFamily="34" charset="-122"/>
                <a:cs typeface="Arial" pitchFamily="34" charset="-120"/>
              </a:defRPr>
            </a:lvl1pPr>
          </a:lstStyle>
          <a:p>
            <a:pPr marL="0" indent="0">
              <a:buNone/>
            </a:pPr>
            <a:r>
              <a:rPr lang="en-US" sz="1200" i="1" dirty="0">
                <a:solidFill>
                  <a:srgbClr val="9AA0A6"/>
                </a:solidFill>
                <a:latin typeface="Arial" pitchFamily="34" charset="0"/>
                <a:ea typeface="Arial" pitchFamily="34" charset="-122"/>
                <a:cs typeface="Arial" pitchFamily="34" charset="-120"/>
              </a:rPr>
              <a:t>Measured on: machine, inputs, warm-up, median of N runs, spread. Max 20 words.</a:t>
            </a:r>
            <a:endParaRPr lang="en-US" sz="1200" dirty="0"/>
          </a:p>
        </p:txBody>
      </p:sp>
      <p:sp>
        <p:nvSpPr>
          <p:cNvPr id="27" name="Text 14"/>
          <p:cNvSpPr/>
          <p:nvPr/>
        </p:nvSpPr>
        <p:spPr>
          <a:xfrm>
            <a:off x="8686800" y="2005153"/>
            <a:ext cx="256032" cy="274320"/>
          </a:xfrm>
          <a:prstGeom prst="rect">
            <a:avLst/>
          </a:prstGeom>
          <a:noFill/>
          <a:ln/>
        </p:spPr>
        <p:txBody>
          <a:bodyPr wrap="square" lIns="0" tIns="0" rIns="0" bIns="0" rtlCol="0" anchor="t"/>
          <a:lstStyle/>
          <a:p>
            <a:pPr marL="0" indent="0">
              <a:buNone/>
            </a:pPr>
            <a:r>
              <a:rPr lang="en-US" sz="1400" b="1" dirty="0">
                <a:solidFill>
                  <a:srgbClr val="B5431F"/>
                </a:solidFill>
                <a:latin typeface="Courier New" pitchFamily="34" charset="0"/>
                <a:ea typeface="Courier New" pitchFamily="34" charset="-122"/>
                <a:cs typeface="Courier New" pitchFamily="34" charset="-120"/>
              </a:rPr>
              <a:t>5</a:t>
            </a:r>
            <a:endParaRPr lang="en-US" sz="1400" dirty="0"/>
          </a:p>
        </p:txBody>
      </p:sp>
      <p:sp>
        <p:nvSpPr>
          <p:cNvPr id="28" name="Text 15"/>
          <p:cNvSpPr/>
          <p:nvPr/>
        </p:nvSpPr>
        <p:spPr>
          <a:xfrm>
            <a:off x="8942832" y="2005153"/>
            <a:ext cx="2834640" cy="274320"/>
          </a:xfrm>
          <a:prstGeom prst="rect">
            <a:avLst/>
          </a:prstGeom>
          <a:noFill/>
          <a:ln/>
        </p:spPr>
        <p:txBody>
          <a:bodyPr wrap="square" lIns="0" tIns="0" rIns="0" bIns="0" rtlCol="0" anchor="t"/>
          <a:lstStyle/>
          <a:p>
            <a:pPr marL="0" indent="0">
              <a:buNone/>
            </a:pPr>
            <a:r>
              <a:rPr lang="en-US" sz="1400" b="1" dirty="0">
                <a:solidFill>
                  <a:srgbClr val="1C3557"/>
                </a:solidFill>
                <a:latin typeface="Arial" pitchFamily="34" charset="0"/>
                <a:ea typeface="Arial" pitchFamily="34" charset="-122"/>
                <a:cs typeface="Arial" pitchFamily="34" charset="-120"/>
              </a:rPr>
              <a:t>What broke or surprised us</a:t>
            </a:r>
            <a:endParaRPr lang="en-US" sz="1400" dirty="0"/>
          </a:p>
        </p:txBody>
      </p:sp>
      <p:sp>
        <p:nvSpPr>
          <p:cNvPr id="29" name="Text 16"/>
          <p:cNvSpPr>
            <a:spLocks noGrp="1"/>
          </p:cNvSpPr>
          <p:nvPr>
            <p:ph type="body" idx="127" hasCustomPrompt="1"/>
          </p:nvPr>
        </p:nvSpPr>
        <p:spPr>
          <a:xfrm>
            <a:off x="8686800" y="2297760"/>
            <a:ext cx="3090672" cy="1725599"/>
          </a:xfrm>
          <a:prstGeom prst="rect">
            <a:avLst/>
          </a:prstGeom>
          <a:noFill/>
          <a:ln/>
        </p:spPr>
        <p:txBody>
          <a:bodyPr wrap="square" lIns="0" tIns="27432" rIns="0" bIns="0" rtlCol="0" anchor="t">
            <a:noAutofit/>
          </a:bodyPr>
          <a:lstStyle>
            <a:lvl1pPr marL="0" indent="0">
              <a:buNone/>
              <a:defRPr lang="en-US" sz="1400" dirty="0">
                <a:solidFill>
                  <a:srgbClr val="1F2937"/>
                </a:solidFill>
                <a:latin typeface="Arial" pitchFamily="34" charset="0"/>
                <a:ea typeface="Arial" pitchFamily="34" charset="-122"/>
                <a:cs typeface="Arial" pitchFamily="34" charset="-120"/>
              </a:defRPr>
            </a:lvl1pPr>
          </a:lstStyle>
          <a:p>
            <a:pPr marL="0" indent="0">
              <a:buNone/>
            </a:pPr>
            <a:r>
              <a:rPr lang="en-US" sz="1400" i="1" dirty="0">
                <a:solidFill>
                  <a:srgbClr val="9AA0A6"/>
                </a:solidFill>
                <a:latin typeface="Arial" pitchFamily="34" charset="0"/>
                <a:ea typeface="Arial" pitchFamily="34" charset="-122"/>
                <a:cs typeface="Arial" pitchFamily="34" charset="-120"/>
              </a:rPr>
              <a:t>One thing that failed, did not reproduce, or surprised you, and what it taught you. Max 40 words.</a:t>
            </a:r>
            <a:endParaRPr lang="en-US" sz="1400" dirty="0"/>
          </a:p>
        </p:txBody>
      </p:sp>
      <p:sp>
        <p:nvSpPr>
          <p:cNvPr id="30" name="Text 16"/>
          <p:cNvSpPr/>
          <p:nvPr/>
        </p:nvSpPr>
        <p:spPr>
          <a:xfrm>
            <a:off x="8686800" y="4361690"/>
            <a:ext cx="256032" cy="274320"/>
          </a:xfrm>
          <a:prstGeom prst="rect">
            <a:avLst/>
          </a:prstGeom>
          <a:noFill/>
          <a:ln/>
        </p:spPr>
        <p:txBody>
          <a:bodyPr wrap="square" lIns="0" tIns="0" rIns="0" bIns="0" rtlCol="0" anchor="t"/>
          <a:lstStyle/>
          <a:p>
            <a:pPr marL="0" indent="0">
              <a:buNone/>
            </a:pPr>
            <a:r>
              <a:rPr lang="en-US" sz="1400" b="1" dirty="0">
                <a:solidFill>
                  <a:srgbClr val="B5431F"/>
                </a:solidFill>
                <a:latin typeface="Courier New" pitchFamily="34" charset="0"/>
                <a:ea typeface="Courier New" pitchFamily="34" charset="-122"/>
                <a:cs typeface="Courier New" pitchFamily="34" charset="-120"/>
              </a:rPr>
              <a:t>6</a:t>
            </a:r>
            <a:endParaRPr lang="en-US" sz="1400" dirty="0"/>
          </a:p>
        </p:txBody>
      </p:sp>
      <p:sp>
        <p:nvSpPr>
          <p:cNvPr id="31" name="Text 17"/>
          <p:cNvSpPr/>
          <p:nvPr/>
        </p:nvSpPr>
        <p:spPr>
          <a:xfrm>
            <a:off x="8942832" y="4361690"/>
            <a:ext cx="2834640" cy="274320"/>
          </a:xfrm>
          <a:prstGeom prst="rect">
            <a:avLst/>
          </a:prstGeom>
          <a:noFill/>
          <a:ln/>
        </p:spPr>
        <p:txBody>
          <a:bodyPr wrap="square" lIns="0" tIns="0" rIns="0" bIns="0" rtlCol="0" anchor="t"/>
          <a:lstStyle/>
          <a:p>
            <a:pPr marL="0" indent="0">
              <a:buNone/>
            </a:pPr>
            <a:r>
              <a:rPr lang="en-US" sz="1400" b="1" dirty="0">
                <a:solidFill>
                  <a:srgbClr val="1C3557"/>
                </a:solidFill>
                <a:latin typeface="Arial" pitchFamily="34" charset="0"/>
                <a:ea typeface="Arial" pitchFamily="34" charset="-122"/>
                <a:cs typeface="Arial" pitchFamily="34" charset="-120"/>
              </a:rPr>
              <a:t>Next six weeks</a:t>
            </a:r>
            <a:endParaRPr lang="en-US" sz="1400" dirty="0"/>
          </a:p>
        </p:txBody>
      </p:sp>
      <p:sp>
        <p:nvSpPr>
          <p:cNvPr id="32" name="Text 18"/>
          <p:cNvSpPr>
            <a:spLocks noGrp="1"/>
          </p:cNvSpPr>
          <p:nvPr>
            <p:ph type="body" idx="130" hasCustomPrompt="1"/>
          </p:nvPr>
        </p:nvSpPr>
        <p:spPr>
          <a:xfrm>
            <a:off x="8686800" y="4654298"/>
            <a:ext cx="3090672" cy="960120"/>
          </a:xfrm>
          <a:prstGeom prst="rect">
            <a:avLst/>
          </a:prstGeom>
          <a:noFill/>
          <a:ln/>
        </p:spPr>
        <p:txBody>
          <a:bodyPr wrap="square" lIns="0" tIns="27432" rIns="0" bIns="0" rtlCol="0" anchor="t">
            <a:noAutofit/>
          </a:bodyPr>
          <a:lstStyle>
            <a:lvl1pPr marL="0" indent="0">
              <a:buNone/>
              <a:defRPr lang="en-US" sz="1400" dirty="0">
                <a:solidFill>
                  <a:srgbClr val="1F2937"/>
                </a:solidFill>
                <a:latin typeface="Arial" pitchFamily="34" charset="0"/>
                <a:ea typeface="Arial" pitchFamily="34" charset="-122"/>
                <a:cs typeface="Arial" pitchFamily="34" charset="-120"/>
              </a:defRPr>
            </a:lvl1pPr>
          </a:lstStyle>
          <a:p>
            <a:pPr marL="0" indent="0">
              <a:buNone/>
            </a:pPr>
            <a:r>
              <a:rPr lang="en-US" sz="1400" i="1" dirty="0">
                <a:solidFill>
                  <a:srgbClr val="9AA0A6"/>
                </a:solidFill>
                <a:latin typeface="Arial" pitchFamily="34" charset="0"/>
                <a:ea typeface="Arial" pitchFamily="34" charset="-122"/>
                <a:cs typeface="Arial" pitchFamily="34" charset="-120"/>
              </a:rPr>
              <a:t>The experiment that decides the project, the biggest risk, and your fallback. Max 20 words.</a:t>
            </a:r>
            <a:endParaRPr lang="en-US" sz="1400" dirty="0"/>
          </a:p>
        </p:txBody>
      </p:sp>
      <p:sp>
        <p:nvSpPr>
          <p:cNvPr id="37" name="Shape 21"/>
          <p:cNvSpPr/>
          <p:nvPr/>
        </p:nvSpPr>
        <p:spPr>
          <a:xfrm>
            <a:off x="411480" y="5943600"/>
            <a:ext cx="11365992" cy="0"/>
          </a:xfrm>
          <a:prstGeom prst="line">
            <a:avLst/>
          </a:prstGeom>
          <a:noFill/>
          <a:ln w="9525">
            <a:solidFill>
              <a:srgbClr val="C9CED6"/>
            </a:solidFill>
            <a:prstDash val="solid"/>
          </a:ln>
        </p:spPr>
        <p:txBody>
          <a:bodyPr/>
          <a:lstStyle/>
          <a:p>
            <a:endParaRPr lang="en-US"/>
          </a:p>
        </p:txBody>
      </p:sp>
      <p:sp>
        <p:nvSpPr>
          <p:cNvPr id="38" name="Text 22"/>
          <p:cNvSpPr/>
          <p:nvPr/>
        </p:nvSpPr>
        <p:spPr>
          <a:xfrm>
            <a:off x="411480" y="6053328"/>
            <a:ext cx="1280160" cy="201168"/>
          </a:xfrm>
          <a:prstGeom prst="rect">
            <a:avLst/>
          </a:prstGeom>
          <a:noFill/>
          <a:ln/>
        </p:spPr>
        <p:txBody>
          <a:bodyPr wrap="square" lIns="0" tIns="0" rIns="0" bIns="0" rtlCol="0" anchor="t"/>
          <a:lstStyle/>
          <a:p>
            <a:pPr marL="0" indent="0">
              <a:buNone/>
            </a:pPr>
            <a:r>
              <a:rPr lang="en-US" sz="1000" kern="0" spc="100" dirty="0">
                <a:solidFill>
                  <a:srgbClr val="6B7280"/>
                </a:solidFill>
                <a:latin typeface="Courier New" pitchFamily="34" charset="0"/>
                <a:ea typeface="Courier New" pitchFamily="34" charset="-122"/>
                <a:cs typeface="Courier New" pitchFamily="34" charset="-120"/>
              </a:rPr>
              <a:t>GATE CHECK</a:t>
            </a:r>
            <a:endParaRPr lang="en-US" sz="1000" dirty="0"/>
          </a:p>
        </p:txBody>
      </p:sp>
      <p:sp>
        <p:nvSpPr>
          <p:cNvPr id="39" name="Text 23"/>
          <p:cNvSpPr/>
          <p:nvPr/>
        </p:nvSpPr>
        <p:spPr>
          <a:xfrm>
            <a:off x="411480" y="6254496"/>
            <a:ext cx="1280160" cy="201168"/>
          </a:xfrm>
          <a:prstGeom prst="rect">
            <a:avLst/>
          </a:prstGeom>
          <a:noFill/>
          <a:ln/>
        </p:spPr>
        <p:txBody>
          <a:bodyPr wrap="square" lIns="0" tIns="0" rIns="0" bIns="0" rtlCol="0" anchor="t"/>
          <a:lstStyle/>
          <a:p>
            <a:pPr marL="0" indent="0">
              <a:buNone/>
            </a:pPr>
            <a:r>
              <a:rPr lang="en-US" sz="1000" dirty="0">
                <a:solidFill>
                  <a:srgbClr val="6B7280"/>
                </a:solidFill>
                <a:latin typeface="Arial" pitchFamily="34" charset="0"/>
                <a:ea typeface="Arial" pitchFamily="34" charset="-122"/>
                <a:cs typeface="Arial" pitchFamily="34" charset="-120"/>
              </a:rPr>
              <a:t>the five constraints</a:t>
            </a:r>
            <a:endParaRPr lang="en-US" sz="1000" dirty="0"/>
          </a:p>
        </p:txBody>
      </p:sp>
      <p:sp>
        <p:nvSpPr>
          <p:cNvPr id="40" name="Text 24"/>
          <p:cNvSpPr/>
          <p:nvPr/>
        </p:nvSpPr>
        <p:spPr>
          <a:xfrm>
            <a:off x="1783080" y="6035040"/>
            <a:ext cx="1911096" cy="219456"/>
          </a:xfrm>
          <a:prstGeom prst="rect">
            <a:avLst/>
          </a:prstGeom>
          <a:noFill/>
          <a:ln/>
        </p:spPr>
        <p:txBody>
          <a:bodyPr wrap="square" lIns="0" tIns="0" rIns="0" bIns="0" rtlCol="0" anchor="t"/>
          <a:lstStyle/>
          <a:p>
            <a:pPr marL="0" indent="0">
              <a:buNone/>
            </a:pPr>
            <a:r>
              <a:rPr lang="en-US" sz="1100" b="1" dirty="0">
                <a:solidFill>
                  <a:srgbClr val="1C3557"/>
                </a:solidFill>
                <a:latin typeface="Arial" pitchFamily="34" charset="0"/>
                <a:ea typeface="Arial" pitchFamily="34" charset="-122"/>
                <a:cs typeface="Arial" pitchFamily="34" charset="-120"/>
              </a:rPr>
              <a:t>Safe when wrong</a:t>
            </a:r>
            <a:endParaRPr lang="en-US" sz="1100" dirty="0"/>
          </a:p>
        </p:txBody>
      </p:sp>
      <p:sp>
        <p:nvSpPr>
          <p:cNvPr id="41" name="Text 25"/>
          <p:cNvSpPr>
            <a:spLocks noGrp="1"/>
          </p:cNvSpPr>
          <p:nvPr>
            <p:ph type="body" idx="139" hasCustomPrompt="1"/>
          </p:nvPr>
        </p:nvSpPr>
        <p:spPr>
          <a:xfrm>
            <a:off x="1783080" y="6263640"/>
            <a:ext cx="1911096" cy="301752"/>
          </a:xfrm>
          <a:prstGeom prst="rect">
            <a:avLst/>
          </a:prstGeom>
          <a:noFill/>
          <a:ln/>
        </p:spPr>
        <p:txBody>
          <a:bodyPr wrap="square" lIns="0" tIns="27432" rIns="0" bIns="0" rtlCol="0" anchor="t">
            <a:noAutofit/>
          </a:bodyPr>
          <a:lstStyle>
            <a:lvl1pPr marL="0" indent="0">
              <a:buNone/>
              <a:defRPr lang="en-US" sz="1200" dirty="0">
                <a:solidFill>
                  <a:srgbClr val="1F2937"/>
                </a:solidFill>
                <a:latin typeface="Arial" pitchFamily="34" charset="0"/>
                <a:ea typeface="Arial" pitchFamily="34" charset="-122"/>
                <a:cs typeface="Arial" pitchFamily="34" charset="-120"/>
              </a:defRPr>
            </a:lvl1pPr>
          </a:lstStyle>
          <a:p>
            <a:pPr marL="0" indent="0">
              <a:buNone/>
            </a:pPr>
            <a:r>
              <a:rPr lang="en-US" sz="1200" i="1" dirty="0">
                <a:solidFill>
                  <a:srgbClr val="9AA0A6"/>
                </a:solidFill>
                <a:latin typeface="Arial" pitchFamily="34" charset="0"/>
                <a:ea typeface="Arial" pitchFamily="34" charset="-122"/>
                <a:cs typeface="Arial" pitchFamily="34" charset="-120"/>
              </a:rPr>
              <a:t>yes / unsure / no, and why</a:t>
            </a:r>
            <a:endParaRPr lang="en-US" sz="1200" dirty="0"/>
          </a:p>
        </p:txBody>
      </p:sp>
      <p:sp>
        <p:nvSpPr>
          <p:cNvPr id="42" name="Text 25"/>
          <p:cNvSpPr/>
          <p:nvPr/>
        </p:nvSpPr>
        <p:spPr>
          <a:xfrm>
            <a:off x="3803904" y="6035040"/>
            <a:ext cx="1911096" cy="219456"/>
          </a:xfrm>
          <a:prstGeom prst="rect">
            <a:avLst/>
          </a:prstGeom>
          <a:noFill/>
          <a:ln/>
        </p:spPr>
        <p:txBody>
          <a:bodyPr wrap="square" lIns="0" tIns="0" rIns="0" bIns="0" rtlCol="0" anchor="t"/>
          <a:lstStyle/>
          <a:p>
            <a:pPr marL="0" indent="0">
              <a:buNone/>
            </a:pPr>
            <a:r>
              <a:rPr lang="en-US" sz="1100" b="1" dirty="0">
                <a:solidFill>
                  <a:srgbClr val="1C3557"/>
                </a:solidFill>
                <a:latin typeface="Arial" pitchFamily="34" charset="0"/>
                <a:ea typeface="Arial" pitchFamily="34" charset="-122"/>
                <a:cs typeface="Arial" pitchFamily="34" charset="-120"/>
              </a:rPr>
              <a:t>Labels affordable</a:t>
            </a:r>
            <a:endParaRPr lang="en-US" sz="1100" dirty="0"/>
          </a:p>
        </p:txBody>
      </p:sp>
      <p:sp>
        <p:nvSpPr>
          <p:cNvPr id="43" name="Text 26"/>
          <p:cNvSpPr>
            <a:spLocks noGrp="1"/>
          </p:cNvSpPr>
          <p:nvPr>
            <p:ph type="body" idx="141" hasCustomPrompt="1"/>
          </p:nvPr>
        </p:nvSpPr>
        <p:spPr>
          <a:xfrm>
            <a:off x="3803904" y="6263640"/>
            <a:ext cx="1911096" cy="301752"/>
          </a:xfrm>
          <a:prstGeom prst="rect">
            <a:avLst/>
          </a:prstGeom>
          <a:noFill/>
          <a:ln/>
        </p:spPr>
        <p:txBody>
          <a:bodyPr wrap="square" lIns="0" tIns="27432" rIns="0" bIns="0" rtlCol="0" anchor="t">
            <a:noAutofit/>
          </a:bodyPr>
          <a:lstStyle>
            <a:lvl1pPr marL="0" indent="0">
              <a:buNone/>
              <a:defRPr lang="en-US" sz="1200" dirty="0">
                <a:solidFill>
                  <a:srgbClr val="1F2937"/>
                </a:solidFill>
                <a:latin typeface="Arial" pitchFamily="34" charset="0"/>
                <a:ea typeface="Arial" pitchFamily="34" charset="-122"/>
                <a:cs typeface="Arial" pitchFamily="34" charset="-120"/>
              </a:defRPr>
            </a:lvl1pPr>
          </a:lstStyle>
          <a:p>
            <a:pPr marL="0" indent="0">
              <a:buNone/>
            </a:pPr>
            <a:r>
              <a:rPr lang="en-US" sz="1200" i="1" dirty="0">
                <a:solidFill>
                  <a:srgbClr val="9AA0A6"/>
                </a:solidFill>
                <a:latin typeface="Arial" pitchFamily="34" charset="0"/>
                <a:ea typeface="Arial" pitchFamily="34" charset="-122"/>
                <a:cs typeface="Arial" pitchFamily="34" charset="-120"/>
              </a:rPr>
              <a:t>yes / unsure / no, and why</a:t>
            </a:r>
            <a:endParaRPr lang="en-US" sz="1200" dirty="0"/>
          </a:p>
        </p:txBody>
      </p:sp>
      <p:sp>
        <p:nvSpPr>
          <p:cNvPr id="44" name="Text 26"/>
          <p:cNvSpPr/>
          <p:nvPr/>
        </p:nvSpPr>
        <p:spPr>
          <a:xfrm>
            <a:off x="5824728" y="6035040"/>
            <a:ext cx="1911096" cy="219456"/>
          </a:xfrm>
          <a:prstGeom prst="rect">
            <a:avLst/>
          </a:prstGeom>
          <a:noFill/>
          <a:ln/>
        </p:spPr>
        <p:txBody>
          <a:bodyPr wrap="square" lIns="0" tIns="0" rIns="0" bIns="0" rtlCol="0" anchor="t"/>
          <a:lstStyle/>
          <a:p>
            <a:pPr marL="0" indent="0">
              <a:buNone/>
            </a:pPr>
            <a:r>
              <a:rPr lang="en-US" sz="1100" b="1" dirty="0">
                <a:solidFill>
                  <a:srgbClr val="1C3557"/>
                </a:solidFill>
                <a:latin typeface="Arial" pitchFamily="34" charset="0"/>
                <a:ea typeface="Arial" pitchFamily="34" charset="-122"/>
                <a:cs typeface="Arial" pitchFamily="34" charset="-120"/>
              </a:rPr>
              <a:t>Fits the budget</a:t>
            </a:r>
            <a:endParaRPr lang="en-US" sz="1100" dirty="0"/>
          </a:p>
        </p:txBody>
      </p:sp>
      <p:sp>
        <p:nvSpPr>
          <p:cNvPr id="45" name="Text 27"/>
          <p:cNvSpPr>
            <a:spLocks noGrp="1"/>
          </p:cNvSpPr>
          <p:nvPr>
            <p:ph type="body" idx="143" hasCustomPrompt="1"/>
          </p:nvPr>
        </p:nvSpPr>
        <p:spPr>
          <a:xfrm>
            <a:off x="5824728" y="6263640"/>
            <a:ext cx="1911096" cy="301752"/>
          </a:xfrm>
          <a:prstGeom prst="rect">
            <a:avLst/>
          </a:prstGeom>
          <a:noFill/>
          <a:ln/>
        </p:spPr>
        <p:txBody>
          <a:bodyPr wrap="square" lIns="0" tIns="27432" rIns="0" bIns="0" rtlCol="0" anchor="t">
            <a:noAutofit/>
          </a:bodyPr>
          <a:lstStyle>
            <a:lvl1pPr marL="0" indent="0">
              <a:buNone/>
              <a:defRPr lang="en-US" sz="1200" dirty="0">
                <a:solidFill>
                  <a:srgbClr val="1F2937"/>
                </a:solidFill>
                <a:latin typeface="Arial" pitchFamily="34" charset="0"/>
                <a:ea typeface="Arial" pitchFamily="34" charset="-122"/>
                <a:cs typeface="Arial" pitchFamily="34" charset="-120"/>
              </a:defRPr>
            </a:lvl1pPr>
          </a:lstStyle>
          <a:p>
            <a:pPr marL="0" indent="0">
              <a:buNone/>
            </a:pPr>
            <a:r>
              <a:rPr lang="en-US" sz="1200" i="1" dirty="0">
                <a:solidFill>
                  <a:srgbClr val="9AA0A6"/>
                </a:solidFill>
                <a:latin typeface="Arial" pitchFamily="34" charset="0"/>
                <a:ea typeface="Arial" pitchFamily="34" charset="-122"/>
                <a:cs typeface="Arial" pitchFamily="34" charset="-120"/>
              </a:rPr>
              <a:t>yes / unsure / no, and why</a:t>
            </a:r>
            <a:endParaRPr lang="en-US" sz="1200" dirty="0"/>
          </a:p>
        </p:txBody>
      </p:sp>
      <p:sp>
        <p:nvSpPr>
          <p:cNvPr id="46" name="Text 27"/>
          <p:cNvSpPr/>
          <p:nvPr/>
        </p:nvSpPr>
        <p:spPr>
          <a:xfrm>
            <a:off x="7845552" y="6035040"/>
            <a:ext cx="1911096" cy="219456"/>
          </a:xfrm>
          <a:prstGeom prst="rect">
            <a:avLst/>
          </a:prstGeom>
          <a:noFill/>
          <a:ln/>
        </p:spPr>
        <p:txBody>
          <a:bodyPr wrap="square" lIns="0" tIns="0" rIns="0" bIns="0" rtlCol="0" anchor="t"/>
          <a:lstStyle/>
          <a:p>
            <a:pPr marL="0" indent="0">
              <a:buNone/>
            </a:pPr>
            <a:r>
              <a:rPr lang="en-US" sz="1100" b="1" dirty="0">
                <a:solidFill>
                  <a:srgbClr val="1C3557"/>
                </a:solidFill>
                <a:latin typeface="Arial" pitchFamily="34" charset="0"/>
                <a:ea typeface="Arial" pitchFamily="34" charset="-122"/>
                <a:cs typeface="Arial" pitchFamily="34" charset="-120"/>
              </a:rPr>
              <a:t>Beats a tuned baseline</a:t>
            </a:r>
            <a:endParaRPr lang="en-US" sz="1100" dirty="0"/>
          </a:p>
        </p:txBody>
      </p:sp>
      <p:sp>
        <p:nvSpPr>
          <p:cNvPr id="47" name="Text 28"/>
          <p:cNvSpPr>
            <a:spLocks noGrp="1"/>
          </p:cNvSpPr>
          <p:nvPr>
            <p:ph type="body" idx="145" hasCustomPrompt="1"/>
          </p:nvPr>
        </p:nvSpPr>
        <p:spPr>
          <a:xfrm>
            <a:off x="7845552" y="6263640"/>
            <a:ext cx="1911096" cy="301752"/>
          </a:xfrm>
          <a:prstGeom prst="rect">
            <a:avLst/>
          </a:prstGeom>
          <a:noFill/>
          <a:ln/>
        </p:spPr>
        <p:txBody>
          <a:bodyPr wrap="square" lIns="0" tIns="27432" rIns="0" bIns="0" rtlCol="0" anchor="t">
            <a:noAutofit/>
          </a:bodyPr>
          <a:lstStyle>
            <a:lvl1pPr marL="0" indent="0">
              <a:buNone/>
              <a:defRPr lang="en-US" sz="1200" dirty="0">
                <a:solidFill>
                  <a:srgbClr val="1F2937"/>
                </a:solidFill>
                <a:latin typeface="Arial" pitchFamily="34" charset="0"/>
                <a:ea typeface="Arial" pitchFamily="34" charset="-122"/>
                <a:cs typeface="Arial" pitchFamily="34" charset="-120"/>
              </a:defRPr>
            </a:lvl1pPr>
          </a:lstStyle>
          <a:p>
            <a:pPr marL="0" indent="0">
              <a:buNone/>
            </a:pPr>
            <a:r>
              <a:rPr lang="en-US" sz="1200" i="1" dirty="0">
                <a:solidFill>
                  <a:srgbClr val="9AA0A6"/>
                </a:solidFill>
                <a:latin typeface="Arial" pitchFamily="34" charset="0"/>
                <a:ea typeface="Arial" pitchFamily="34" charset="-122"/>
                <a:cs typeface="Arial" pitchFamily="34" charset="-120"/>
              </a:rPr>
              <a:t>yes / unsure / no, and why</a:t>
            </a:r>
            <a:endParaRPr lang="en-US" sz="1200" dirty="0"/>
          </a:p>
        </p:txBody>
      </p:sp>
      <p:sp>
        <p:nvSpPr>
          <p:cNvPr id="48" name="Text 28"/>
          <p:cNvSpPr/>
          <p:nvPr/>
        </p:nvSpPr>
        <p:spPr>
          <a:xfrm>
            <a:off x="9866376" y="6035040"/>
            <a:ext cx="1911096" cy="219456"/>
          </a:xfrm>
          <a:prstGeom prst="rect">
            <a:avLst/>
          </a:prstGeom>
          <a:noFill/>
          <a:ln/>
        </p:spPr>
        <p:txBody>
          <a:bodyPr wrap="square" lIns="0" tIns="0" rIns="0" bIns="0" rtlCol="0" anchor="t"/>
          <a:lstStyle/>
          <a:p>
            <a:pPr marL="0" indent="0">
              <a:buNone/>
            </a:pPr>
            <a:r>
              <a:rPr lang="en-US" sz="1100" b="1" dirty="0">
                <a:solidFill>
                  <a:srgbClr val="1C3557"/>
                </a:solidFill>
                <a:latin typeface="Arial" pitchFamily="34" charset="0"/>
                <a:ea typeface="Arial" pitchFamily="34" charset="-122"/>
                <a:cs typeface="Arial" pitchFamily="34" charset="-120"/>
              </a:rPr>
              <a:t>Survives a new workload</a:t>
            </a:r>
            <a:endParaRPr lang="en-US" sz="1100" dirty="0"/>
          </a:p>
        </p:txBody>
      </p:sp>
      <p:sp>
        <p:nvSpPr>
          <p:cNvPr id="49" name="Text 29"/>
          <p:cNvSpPr>
            <a:spLocks noGrp="1"/>
          </p:cNvSpPr>
          <p:nvPr>
            <p:ph type="body" idx="147" hasCustomPrompt="1"/>
          </p:nvPr>
        </p:nvSpPr>
        <p:spPr>
          <a:xfrm>
            <a:off x="9866376" y="6263640"/>
            <a:ext cx="1911096" cy="301752"/>
          </a:xfrm>
          <a:prstGeom prst="rect">
            <a:avLst/>
          </a:prstGeom>
          <a:noFill/>
          <a:ln/>
        </p:spPr>
        <p:txBody>
          <a:bodyPr wrap="square" lIns="0" tIns="27432" rIns="0" bIns="0" rtlCol="0" anchor="t">
            <a:noAutofit/>
          </a:bodyPr>
          <a:lstStyle>
            <a:lvl1pPr marL="0" indent="0">
              <a:buNone/>
              <a:defRPr lang="en-US" sz="1200" dirty="0">
                <a:solidFill>
                  <a:srgbClr val="1F2937"/>
                </a:solidFill>
                <a:latin typeface="Arial" pitchFamily="34" charset="0"/>
                <a:ea typeface="Arial" pitchFamily="34" charset="-122"/>
                <a:cs typeface="Arial" pitchFamily="34" charset="-120"/>
              </a:defRPr>
            </a:lvl1pPr>
          </a:lstStyle>
          <a:p>
            <a:pPr marL="0" indent="0">
              <a:buNone/>
            </a:pPr>
            <a:r>
              <a:rPr lang="en-US" sz="1200" i="1" dirty="0">
                <a:solidFill>
                  <a:srgbClr val="9AA0A6"/>
                </a:solidFill>
                <a:latin typeface="Arial" pitchFamily="34" charset="0"/>
                <a:ea typeface="Arial" pitchFamily="34" charset="-122"/>
                <a:cs typeface="Arial" pitchFamily="34" charset="-120"/>
              </a:rPr>
              <a:t>yes / unsure / no, and why</a:t>
            </a:r>
            <a:endParaRPr lang="en-US" sz="12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 Id="rId9" Type="http://schemas.openxmlformats.org/officeDocument/2006/relationships/image" Target="../media/result.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1"/>
          <p:cNvSpPr>
            <a:spLocks noGrp="1"/>
          </p:cNvSpPr>
          <p:nvPr>
            <p:ph type="body" idx="101" hasCustomPrompt="1"/>
          </p:nvPr>
        </p:nvSpPr>
        <p:spPr/>
        <p:txBody>
          <a:bodyPr>
            <a:noAutofit/>
          </a:bodyPr>
          <a:lstStyle/>
          <a:p>
            <a:pPr marL="0" indent="0">
              <a:buNone/>
            </a:pPr>
            <a:r>
              <a:rPr lang="en-US" dirty="0"/>
              <a:t>Do Learned Indexes Still Win on Modern Hardware?</a:t>
            </a:r>
          </a:p>
        </p:txBody>
      </p:sp>
      <p:sp>
        <p:nvSpPr>
          <p:cNvPr id="5" name="Text 3"/>
          <p:cNvSpPr>
            <a:spLocks noGrp="1"/>
          </p:cNvSpPr>
          <p:nvPr>
            <p:ph type="body" idx="105" hasCustomPrompt="1"/>
          </p:nvPr>
        </p:nvSpPr>
        <p:spPr/>
        <p:txBody>
          <a:bodyPr>
            <a:noAutofit/>
          </a:bodyPr>
          <a:lstStyle/>
          <a:p>
            <a:pPr marL="0" indent="0">
              <a:buNone/>
            </a:pPr>
            <a:r>
              <a:rPr lang="en-US" dirty="0"/>
              <a:t>01</a:t>
            </a:r>
          </a:p>
        </p:txBody>
      </p:sp>
      <p:sp>
        <p:nvSpPr>
          <p:cNvPr id="6" name="Text 3"/>
          <p:cNvSpPr>
            <a:spLocks noGrp="1"/>
          </p:cNvSpPr>
          <p:nvPr>
            <p:ph type="body" idx="106" hasCustomPrompt="1"/>
          </p:nvPr>
        </p:nvSpPr>
        <p:spPr/>
        <p:txBody>
          <a:bodyPr>
            <a:noAutofit/>
          </a:bodyPr>
          <a:lstStyle/>
          <a:p>
            <a:pPr marL="0" indent="0">
              <a:buNone/>
            </a:pPr>
            <a:r>
              <a:rPr lang="en-US" dirty="0"/>
              <a:t>DATABASES</a:t>
            </a:r>
          </a:p>
        </p:txBody>
      </p:sp>
      <p:sp>
        <p:nvSpPr>
          <p:cNvPr id="7" name="Text 4"/>
          <p:cNvSpPr>
            <a:spLocks noGrp="1"/>
          </p:cNvSpPr>
          <p:nvPr>
            <p:ph type="body" idx="4294967295" hasCustomPrompt="1"/>
          </p:nvPr>
        </p:nvSpPr>
        <p:spPr>
          <a:xfrm>
            <a:off x="9921240" y="1051560"/>
            <a:ext cx="1856232" cy="292608"/>
          </a:xfrm>
          <a:prstGeom prst="rect">
            <a:avLst/>
          </a:prstGeom>
        </p:spPr>
        <p:txBody>
          <a:bodyPr wrap="square" lIns="0" tIns="27432" rIns="0" bIns="0" anchor="t">
            <a:noAutofit/>
          </a:bodyPr>
          <a:lstStyle/>
          <a:p>
            <a:pPr marL="0" indent="0">
              <a:buNone/>
            </a:pPr>
            <a:r>
              <a:rPr lang="en-US" sz="1600" b="1" dirty="0">
                <a:solidFill>
                  <a:srgbClr val="2E8A80"/>
                </a:solidFill>
                <a:latin typeface="Arial" pitchFamily="34" charset="0"/>
                <a:cs typeface="Arial" pitchFamily="34" charset="-120"/>
              </a:rPr>
              <a:t>On track</a:t>
            </a:r>
          </a:p>
        </p:txBody>
      </p:sp>
      <p:sp>
        <p:nvSpPr>
          <p:cNvPr id="8" name="Text 7"/>
          <p:cNvSpPr>
            <a:spLocks noGrp="1"/>
          </p:cNvSpPr>
          <p:nvPr>
            <p:ph type="body" idx="112" hasCustomPrompt="1"/>
          </p:nvPr>
        </p:nvSpPr>
        <p:spPr/>
        <p:txBody>
          <a:bodyPr>
            <a:noAutofit/>
          </a:bodyPr>
          <a:lstStyle/>
          <a:p>
            <a:pPr marL="0" indent="0">
              <a:buNone/>
            </a:pPr>
            <a:r>
              <a:rPr lang="en-US" dirty="0"/>
              <a:t>Today a B+tree decides where key k lies in a sorted array. A bad guess costs extra cache misses, about 100 ns each.</a:t>
            </a:r>
          </a:p>
        </p:txBody>
      </p:sp>
      <p:sp>
        <p:nvSpPr>
          <p:cNvPr id="9" name="Text 9"/>
          <p:cNvSpPr>
            <a:spLocks noGrp="1"/>
          </p:cNvSpPr>
          <p:nvPr>
            <p:ph type="body" idx="115" hasCustomPrompt="1"/>
          </p:nvPr>
        </p:nvSpPr>
        <p:spPr/>
        <p:txBody>
          <a:bodyPr>
            <a:noAutofit/>
          </a:bodyPr>
          <a:lstStyle/>
          <a:p>
            <a:pPr marL="0" indent="0">
              <a:buNone/>
            </a:pPr>
            <a:r>
              <a:rPr lang="en-US" dirty="0"/>
              <a:t>Binary search (std::lower_bound, -O3), the standard SOSD baseline. A tuned B+tree comes next. Today: 525 ns per lookup at 100M keys.</a:t>
            </a:r>
          </a:p>
        </p:txBody>
      </p:sp>
      <p:sp>
        <p:nvSpPr>
          <p:cNvPr id="10" name="Text 11"/>
          <p:cNvSpPr>
            <a:spLocks noGrp="1"/>
          </p:cNvSpPr>
          <p:nvPr>
            <p:ph type="body" idx="118" hasCustomPrompt="1"/>
          </p:nvPr>
        </p:nvSpPr>
        <p:spPr/>
        <p:txBody>
          <a:bodyPr>
            <a:noAutofit/>
          </a:bodyPr>
          <a:lstStyle/>
          <a:p>
            <a:pPr marL="0" indent="0">
              <a:buNone/>
            </a:pPr>
            <a:r>
              <a:rPr lang="en-US" dirty="0"/>
              <a:t>Learned indexes (RMI, PGM, RadixSpline, ALEX) learn key to position. Labels are free: each key's array position. One inference: a few multiply-adds plus a bounded local search.</a:t>
            </a:r>
          </a:p>
        </p:txBody>
      </p:sp>
      <p:pic>
        <p:nvPicPr>
          <p:cNvPr id="11" name="First result plot" descr="Line plot of median lookup latency versus number of keys (100K to 100M). Binary search rises from about 100 ns to 525 ns. The learned RMI stays between 32 and 81 ns on uniform keys and between 70 and 132 ns on lognormal keys."/>
          <p:cNvPicPr>
            <a:picLocks noGrp="1" noChangeAspect="1"/>
          </p:cNvPicPr>
          <p:nvPr>
            <p:ph type="pic" idx="122"/>
          </p:nvPr>
        </p:nvPicPr>
        <p:blipFill>
          <a:blip r:embed="rId9"/>
          <a:stretch>
            <a:fillRect/>
          </a:stretch>
        </p:blipFill>
        <p:spPr>
          <a:xfrm>
            <a:off x="4206240" y="1892807"/>
            <a:ext cx="4206240" cy="2606040"/>
          </a:xfrm>
          <a:prstGeom prst="rect">
            <a:avLst/>
          </a:prstGeom>
        </p:spPr>
      </p:pic>
      <p:sp>
        <p:nvSpPr>
          <p:cNvPr id="12" name="Text 14"/>
          <p:cNvSpPr>
            <a:spLocks noGrp="1"/>
          </p:cNvSpPr>
          <p:nvPr>
            <p:ph type="body" idx="123" hasCustomPrompt="1"/>
          </p:nvPr>
        </p:nvSpPr>
        <p:spPr/>
        <p:txBody>
          <a:bodyPr>
            <a:noAutofit/>
          </a:bodyPr>
          <a:lstStyle/>
          <a:p>
            <a:pPr marL="0" indent="0">
              <a:buNone/>
            </a:pPr>
            <a:r>
              <a:rPr lang="en-US" dirty="0"/>
              <a:t>At 100M uniform keys, the RMI cuts lookup time 6.5x: 525 to 81 ns.</a:t>
            </a:r>
          </a:p>
        </p:txBody>
      </p:sp>
      <p:sp>
        <p:nvSpPr>
          <p:cNvPr id="13" name="Text 14"/>
          <p:cNvSpPr>
            <a:spLocks noGrp="1"/>
          </p:cNvSpPr>
          <p:nvPr>
            <p:ph type="body" idx="124" hasCustomPrompt="1"/>
          </p:nvPr>
        </p:nvSpPr>
        <p:spPr/>
        <p:txBody>
          <a:bodyPr>
            <a:noAutofit/>
          </a:bodyPr>
          <a:lstStyle/>
          <a:p>
            <a:pPr marL="0" indent="0">
              <a:buNone/>
            </a:pPr>
            <a:r>
              <a:rPr lang="en-US" dirty="0"/>
              <a:t>AMD Ryzen AI 7 350 (Zen 5), pinned core, 2M random lookups, 1 warm-up, median of 5 runs, bars min/max.</a:t>
            </a:r>
          </a:p>
        </p:txBody>
      </p:sp>
      <p:sp>
        <p:nvSpPr>
          <p:cNvPr id="14" name="Text 16"/>
          <p:cNvSpPr>
            <a:spLocks noGrp="1"/>
          </p:cNvSpPr>
          <p:nvPr>
            <p:ph type="body" idx="127" hasCustomPrompt="1"/>
          </p:nvPr>
        </p:nvSpPr>
        <p:spPr/>
        <p:txBody>
          <a:bodyPr>
            <a:noAutofit/>
          </a:bodyPr>
          <a:lstStyle/>
          <a:p>
            <a:pPr marL="0" indent="0">
              <a:buNone/>
            </a:pPr>
            <a:r>
              <a:rPr lang="en-US" dirty="0"/>
              <a:t>Key distribution matters more than expected. With the same 2.3 MB model at 100M keys, lognormal lookups took 226 ns versus 81 ns for uniform. At 10M keys, a 58 KB model lost to binary search. Lesson: test skewed data.</a:t>
            </a:r>
          </a:p>
        </p:txBody>
      </p:sp>
      <p:sp>
        <p:nvSpPr>
          <p:cNvPr id="15" name="Text 18"/>
          <p:cNvSpPr>
            <a:spLocks noGrp="1"/>
          </p:cNvSpPr>
          <p:nvPr>
            <p:ph type="body" idx="130" hasCustomPrompt="1"/>
          </p:nvPr>
        </p:nvSpPr>
        <p:spPr/>
        <p:txBody>
          <a:bodyPr>
            <a:noAutofit/>
          </a:bodyPr>
          <a:lstStyle/>
          <a:p>
            <a:pPr marL="0" indent="0">
              <a:buNone/>
            </a:pPr>
            <a:r>
              <a:rPr lang="en-US" dirty="0"/>
              <a:t>Decisive run: SOSD, four datasets, perf, on AMD, Intel, ARM. Risk: counters blocked in WSL2/macOS. Fallback: AWS bare-metal.</a:t>
            </a:r>
          </a:p>
        </p:txBody>
      </p:sp>
      <p:sp>
        <p:nvSpPr>
          <p:cNvPr id="17" name="Text 25"/>
          <p:cNvSpPr>
            <a:spLocks noGrp="1"/>
          </p:cNvSpPr>
          <p:nvPr>
            <p:ph type="body" idx="139" hasCustomPrompt="1"/>
          </p:nvPr>
        </p:nvSpPr>
        <p:spPr/>
        <p:txBody>
          <a:bodyPr>
            <a:noAutofit/>
          </a:bodyPr>
          <a:lstStyle/>
          <a:p>
            <a:pPr marL="0" indent="0">
              <a:buNone/>
            </a:pPr>
            <a:r>
              <a:rPr lang="en-US" dirty="0"/>
              <a:t>Yes: search is bounded</a:t>
            </a:r>
          </a:p>
        </p:txBody>
      </p:sp>
      <p:sp>
        <p:nvSpPr>
          <p:cNvPr id="18" name="Text 26"/>
          <p:cNvSpPr>
            <a:spLocks noGrp="1"/>
          </p:cNvSpPr>
          <p:nvPr>
            <p:ph type="body" idx="141" hasCustomPrompt="1"/>
          </p:nvPr>
        </p:nvSpPr>
        <p:spPr/>
        <p:txBody>
          <a:bodyPr>
            <a:noAutofit/>
          </a:bodyPr>
          <a:lstStyle/>
          <a:p>
            <a:pPr marL="0" indent="0">
              <a:buNone/>
            </a:pPr>
            <a:r>
              <a:rPr lang="en-US" dirty="0"/>
              <a:t>Yes: labels = positions</a:t>
            </a:r>
          </a:p>
        </p:txBody>
      </p:sp>
      <p:sp>
        <p:nvSpPr>
          <p:cNvPr id="19" name="Text 27"/>
          <p:cNvSpPr>
            <a:spLocks noGrp="1"/>
          </p:cNvSpPr>
          <p:nvPr>
            <p:ph type="body" idx="143" hasCustomPrompt="1"/>
          </p:nvPr>
        </p:nvSpPr>
        <p:spPr/>
        <p:txBody>
          <a:bodyPr>
            <a:noAutofit/>
          </a:bodyPr>
          <a:lstStyle/>
          <a:p>
            <a:pPr marL="0" indent="0">
              <a:buNone/>
            </a:pPr>
            <a:r>
              <a:rPr lang="en-US" dirty="0"/>
              <a:t>Yes: model 0.3% of data</a:t>
            </a:r>
          </a:p>
        </p:txBody>
      </p:sp>
      <p:sp>
        <p:nvSpPr>
          <p:cNvPr id="20" name="Text 28"/>
          <p:cNvSpPr>
            <a:spLocks noGrp="1"/>
          </p:cNvSpPr>
          <p:nvPr>
            <p:ph type="body" idx="145" hasCustomPrompt="1"/>
          </p:nvPr>
        </p:nvSpPr>
        <p:spPr/>
        <p:txBody>
          <a:bodyPr>
            <a:noAutofit/>
          </a:bodyPr>
          <a:lstStyle/>
          <a:p>
            <a:pPr marL="0" indent="0">
              <a:buNone/>
            </a:pPr>
            <a:r>
              <a:rPr lang="en-US" dirty="0"/>
              <a:t>Unsure: no B+tree yet</a:t>
            </a:r>
          </a:p>
        </p:txBody>
      </p:sp>
      <p:sp>
        <p:nvSpPr>
          <p:cNvPr id="21" name="Text 29"/>
          <p:cNvSpPr>
            <a:spLocks noGrp="1"/>
          </p:cNvSpPr>
          <p:nvPr>
            <p:ph type="body" idx="147" hasCustomPrompt="1"/>
          </p:nvPr>
        </p:nvSpPr>
        <p:spPr/>
        <p:txBody>
          <a:bodyPr>
            <a:noAutofit/>
          </a:bodyPr>
          <a:lstStyle/>
          <a:p>
            <a:pPr marL="0" indent="0">
              <a:buNone/>
            </a:pPr>
            <a:r>
              <a:rPr lang="en-US" dirty="0"/>
              <a:t>Unsure: no inserts yet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306</Words>
  <Application>Microsoft Macintosh PowerPoint</Application>
  <PresentationFormat>Widescreen</PresentationFormat>
  <Paragraphs>3</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Courier New</vt:lpstr>
      <vt:lpstr>Office Theme</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CIS 4930 Midterm Progress Slide</dc:title>
  <dc:subject>PptxGenJS Presentation</dc:subject>
  <dc:creator>PptxGenJS</dc:creator>
  <cp:lastModifiedBy>Santosh Pandey</cp:lastModifiedBy>
  <cp:revision>7</cp:revision>
  <dcterms:created xsi:type="dcterms:W3CDTF">2026-10-25T13:38:56Z</dcterms:created>
  <dcterms:modified xsi:type="dcterms:W3CDTF">2026-10-25T20:40:11Z</dcterms:modified>
</cp:coreProperties>
</file>