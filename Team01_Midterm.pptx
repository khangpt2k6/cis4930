
<file path=[Content_Types].xml><?xml version="1.0" encoding="utf-8"?>
<Types xmlns="http://schemas.openxmlformats.org/package/2006/content-types">
  <Default Extension="rels" ContentType="application/vnd.openxmlformats-package.relationships+xml"/>
  <Default Extension="png"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260"/>
    <p:restoredTop sz="94610"/>
  </p:normalViewPr>
  <p:slideViewPr>
    <p:cSldViewPr snapToGrid="0" snapToObjects="1">
      <p:cViewPr varScale="1">
        <p:scale>
          <a:sx n="123" d="100"/>
          <a:sy n="123" d="100"/>
        </p:scale>
        <p:origin x="7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290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TEMPLATE (delete nothing on the slide; write your talk script below this block)
1. This is the only slide you present. No title slide, no extra slides, no animations.
2. Do not move, resize, or restyle any box, and do not change a font size. The fonts are fixed so the room can read every team at the same size. If your text does not fit, cut words: the box is the word limit.
3. Paste as plain text (Ctrl+Shift+V on Windows, Cmd+Shift+Option+V on Mac) so you do not import another font size.
4. Box 4 takes exactly one plot. Click the picture icon to insert it. Label both axes and draw the baseline on the same axes.
5. Gate check: for each of the five constraints, write yes, unsure, or no, plus a few words of evidence. "Unsure" is an honest and acceptable answer at Week 9.
6. Status: on track, at risk, or pivoted. Pivoting is fine if box 5 says why.
TIMING: 6 minutes talking, 4 minutes questions. Spend about half your talk on boxes 4 and 5. End on box 7 and wait for an answer.
SUBMIT: save as TeamNN_Midterm.pptx (two-digit team number) and upload to Canvas by the deadline posted there, so all teams can be merged into one deck.
---- YOUR SCRIPT ----</a:t>
            </a:r>
          </a:p>
          <a:p>
            <a:r>
              <a:rPr lang="en-US" dirty="0"/>
              <a:t/>
            </a:r>
          </a:p>
          <a:p>
            <a:r>
              <a:rPr lang="en-US" dirty="0"/>
              <a:t/>
            </a:r>
          </a:p>
          <a:p>
            <a:r>
              <a:rPr lang="en-US" dirty="0"/>
              <a:t>Box 1. The decision (about 40 seconds)</a:t>
            </a:r>
          </a:p>
          <a:p>
            <a:r>
              <a:rPr lang="en-US" dirty="0"/>
              <a:t>- Hello everyone. We are Team 1, and our project asks whether learned indexes (LURND IN-dek-siz) still outperform traditional indexes on modern hardware.</a:t>
            </a:r>
          </a:p>
          <a:p>
            <a:r>
              <a:rPr lang="en-US" dirty="0"/>
              <a:t>- Every database lookup must decide where a key is stored in a sorted array. Today, this decision is made by a B+tree (bee-plus tree), which follows a sequence of comparisons from the root to a leaf.</a:t>
            </a:r>
          </a:p>
          <a:p>
            <a:r>
              <a:rPr lang="en-US" dirty="0"/>
              <a:t>- A poor decision never returns an incorrect result. However, each additional step can cause a cache miss, and each miss to main memory costs approximately one hundred nanoseconds (NAN-oh-sek-unds).</a:t>
            </a:r>
          </a:p>
          <a:p>
            <a:r>
              <a:rPr lang="en-US" dirty="0"/>
              <a:t/>
            </a:r>
          </a:p>
          <a:p>
            <a:r>
              <a:rPr lang="en-US" dirty="0"/>
              <a:t>Box 2. Beat what, exactly? (about 35 seconds)</a:t>
            </a:r>
          </a:p>
          <a:p>
            <a:r>
              <a:rPr lang="en-US" dirty="0"/>
              <a:t>- The baseline we must beat is binary search over the sorted array, implemented with the standard library function lower_bound (LOH-er bound) and compiled with full optimization. This is the reference baseline in the SOSD (ess-oh-ess-dee) benchmark.</a:t>
            </a:r>
          </a:p>
          <a:p>
            <a:r>
              <a:rPr lang="en-US" dirty="0"/>
              <a:t>- On our test machine, binary search requires 525 nanoseconds per lookup at one hundred million keys. A tuned B+tree and a hash table will be added as baselines in the next phase.</a:t>
            </a:r>
          </a:p>
          <a:p>
            <a:r>
              <a:rPr lang="en-US" dirty="0"/>
              <a:t/>
            </a:r>
          </a:p>
          <a:p>
            <a:r>
              <a:rPr lang="en-US" dirty="0"/>
              <a:t>Box 3. Our approach (about 45 seconds)</a:t>
            </a:r>
          </a:p>
          <a:p>
            <a:r>
              <a:rPr lang="en-US" dirty="0"/>
              <a:t>- A learned index replaces the tree with a model. The model learns the relationship between each key and its position in the sorted array, and it predicts where a key should be.</a:t>
            </a:r>
          </a:p>
          <a:p>
            <a:r>
              <a:rPr lang="en-US" dirty="0"/>
              <a:t>- We will evaluate four designs: the Recursive Model Index, or RMI (ar-em-eye), the PGM-index (pee-jee-em), RadixSpline (RAY-diks-spline), and ALEX (AL-eks), which also supports inserts.</a:t>
            </a:r>
          </a:p>
          <a:p>
            <a:r>
              <a:rPr lang="en-US" dirty="0"/>
              <a:t>- The training labels are free, because they are simply the positions of the keys. One inference costs only a few multiply-add operations, followed by a small local search inside a stored error bound, so the result is always exact.</a:t>
            </a:r>
          </a:p>
          <a:p>
            <a:r>
              <a:rPr lang="en-US" dirty="0"/>
              <a:t/>
            </a:r>
          </a:p>
          <a:p>
            <a:r>
              <a:rPr lang="en-US" dirty="0"/>
              <a:t>Box 4. First result (about 1 minute 40 seconds)</a:t>
            </a:r>
          </a:p>
          <a:p>
            <a:r>
              <a:rPr lang="en-US" dirty="0"/>
              <a:t>- For our first result, we implemented a two-stage linear RMI, following the original paper by Kraska (KRAS-kah) and colleagues, and compared it with binary search. We used two synthetic key distributions, uniform and lognormal (log-NOR-mul), from one hundred thousand to one hundred million keys.</a:t>
            </a:r>
          </a:p>
          <a:p>
            <a:r>
              <a:rPr lang="en-US" dirty="0"/>
              <a:t>- The horizontal axis shows the number of keys on a logarithmic (log-uh-RITH-mik) scale, and the vertical axis shows the median lookup latency in nanoseconds. The dashed lines are the binary search baseline. The solid lines are the RMI, using the best of four model sizes at each point.</a:t>
            </a:r>
          </a:p>
          <a:p>
            <a:r>
              <a:rPr lang="en-US" dirty="0"/>
              <a:t>- Binary search slows down sharply after the dotted line, where the data no longer fits in the 16-megabyte L3 (el-three) cache. Beyond that point, each lookup must wait on main memory several times.</a:t>
            </a:r>
          </a:p>
          <a:p>
            <a:r>
              <a:rPr lang="en-US" dirty="0"/>
              <a:t>- The RMI remains much flatter. At one hundred million uniform keys, it reduces the lookup time from 525 to 81 nanoseconds, a speedup of approximately 6.5 times, with a model of only 2.3 megabytes.</a:t>
            </a:r>
          </a:p>
          <a:p>
            <a:r>
              <a:rPr lang="en-US" dirty="0"/>
              <a:t>- All measurements were taken on an AMD Ryzen (RY-zen) AI 7 350 laptop processor. Each point is the median of five runs of two million random lookups, after a warm-up run.</a:t>
            </a:r>
          </a:p>
          <a:p>
            <a:r>
              <a:rPr lang="en-US" dirty="0"/>
              <a:t/>
            </a:r>
          </a:p>
          <a:p>
            <a:r>
              <a:rPr lang="en-US" dirty="0"/>
              <a:t>Box 5. What surprised us (about 1 minute 20 seconds)</a:t>
            </a:r>
          </a:p>
          <a:p>
            <a:r>
              <a:rPr lang="en-US" dirty="0"/>
              <a:t>- The most surprising observation concerns the key distribution. With the same 2.3-megabyte model at one hundred million keys, lognormal lookups required 226 nanoseconds, compared with 81 nanoseconds for uniform keys.</a:t>
            </a:r>
          </a:p>
          <a:p>
            <a:r>
              <a:rPr lang="en-US" dirty="0"/>
              <a:t>- With a very small model of 58 kilobytes at ten million keys, the RMI was in fact slower than binary search, at 341 compared with 314 nanoseconds. A simple linear model cannot follow a skewed distribution, so the error window, and therefore the local search, becomes large. Results on uniform data therefore overstate the benefit.</a:t>
            </a:r>
          </a:p>
          <a:p>
            <a:r>
              <a:rPr lang="en-US" dirty="0"/>
              <a:t>- We also encountered a measurement problem. This processor combines two types of cores. Without pinning the thread to one core, the results were about ten percent slower and noticeably noisier, so every run is now pinned.</a:t>
            </a:r>
          </a:p>
          <a:p>
            <a:r>
              <a:rPr lang="en-US" dirty="0"/>
              <a:t/>
            </a:r>
          </a:p>
          <a:p>
            <a:r>
              <a:rPr lang="en-US" dirty="0"/>
              <a:t>Box 6. Next six weeks (about 40 seconds)</a:t>
            </a:r>
          </a:p>
          <a:p>
            <a:r>
              <a:rPr lang="en-US" dirty="0"/>
              <a:t>- The experiment that decides the project is the full SOSD benchmark on four real datasets, with hardware performance counters, on AMD, Intel, and ARM processors.</a:t>
            </a:r>
          </a:p>
          <a:p>
            <a:r>
              <a:rPr lang="en-US" dirty="0"/>
              <a:t>- The main risk is that the Linux perf (purf) tool cannot read hardware counters inside WSL2 (dub-ul-yoo ess el two) or on macOS. Our fallback is to rent bare-metal (bair-MET-ul) cloud machines on AWS.</a:t>
            </a:r>
          </a:p>
          <a:p>
            <a:r>
              <a:rPr lang="en-US" dirty="0"/>
              <a:t/>
            </a:r>
          </a:p>
          <a:p>
            <a:r>
              <a:rPr lang="en-US" dirty="0"/>
              <a:t>Gate check and closing (about 30 seconds)</a:t>
            </a:r>
          </a:p>
          <a:p>
            <a:r>
              <a:rPr lang="en-US" dirty="0"/>
              <a:t>- A wrong prediction is safe because the search is bounded, the labels are free, and the model uses about 0.3 percent of the data size. We are still unsure whether we beat a tuned baseline, because the B+tree is not yet integrated, and whether the approach survives new workloads, because inserts have not been tested.</a:t>
            </a:r>
          </a:p>
          <a:p>
            <a:r>
              <a:rPr lang="en-US" dirty="0"/>
              <a:t>- We would like to close with a question for the class: for the remaining weeks, should we prioritize more real datasets, or insert-heavy workloads with ALEX? Thank you.</a:t>
            </a:r>
          </a:p>
          <a:p>
            <a:r>
              <a:rPr lang="en-US" dirty="0"/>
              <a:t/>
            </a:r>
          </a:p>
          <a:p>
            <a:r>
              <a:rPr lang="en-US" dirty="0"/>
              <a:t>Q&amp;A: see midterm_script.md in the repo for likely questions and short answers.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Midterm Progress">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237744"/>
            <a:ext cx="8138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CIS 4930/6930  ML FOR COMPUTER SYSTEMS PROGRESS REPORT</a:t>
            </a:r>
            <a:endParaRPr lang="en-US" sz="1000" dirty="0"/>
          </a:p>
        </p:txBody>
      </p:sp>
      <p:sp>
        <p:nvSpPr>
          <p:cNvPr id="3" name="Text 1"/>
          <p:cNvSpPr>
            <a:spLocks noGrp="1"/>
          </p:cNvSpPr>
          <p:nvPr>
            <p:ph type="body" idx="101" hasCustomPrompt="1"/>
          </p:nvPr>
        </p:nvSpPr>
        <p:spPr>
          <a:xfrm>
            <a:off x="411480" y="420624"/>
            <a:ext cx="8183880" cy="694944"/>
          </a:xfrm>
          <a:prstGeom prst="rect">
            <a:avLst/>
          </a:prstGeom>
          <a:noFill/>
          <a:ln/>
        </p:spPr>
        <p:txBody>
          <a:bodyPr wrap="square" lIns="0" tIns="27432" rIns="0" bIns="0" rtlCol="0" anchor="b">
            <a:noAutofit/>
          </a:bodyPr>
          <a:lstStyle>
            <a:lvl1pPr marL="0" indent="0">
              <a:buNone/>
              <a:defRPr lang="en-US" sz="2200" b="1" dirty="0">
                <a:solidFill>
                  <a:srgbClr val="1C3557"/>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Project title</a:t>
            </a:r>
            <a:endParaRPr lang="en-US" sz="2200" dirty="0"/>
          </a:p>
        </p:txBody>
      </p:sp>
      <p:sp>
        <p:nvSpPr>
          <p:cNvPr id="5" name="Text 1"/>
          <p:cNvSpPr/>
          <p:nvPr/>
        </p:nvSpPr>
        <p:spPr>
          <a:xfrm>
            <a:off x="8823960" y="45720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TEAM</a:t>
            </a:r>
            <a:endParaRPr lang="en-US" sz="1000" dirty="0"/>
          </a:p>
        </p:txBody>
      </p:sp>
      <p:sp>
        <p:nvSpPr>
          <p:cNvPr id="6" name="Text 2"/>
          <p:cNvSpPr/>
          <p:nvPr/>
        </p:nvSpPr>
        <p:spPr>
          <a:xfrm>
            <a:off x="9921240" y="457200"/>
            <a:ext cx="1856232"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LAYER OF THE STACK</a:t>
            </a:r>
            <a:endParaRPr lang="en-US" sz="1000" dirty="0"/>
          </a:p>
        </p:txBody>
      </p:sp>
      <p:sp>
        <p:nvSpPr>
          <p:cNvPr id="7" name="Text 3"/>
          <p:cNvSpPr>
            <a:spLocks noGrp="1"/>
          </p:cNvSpPr>
          <p:nvPr>
            <p:ph type="body" idx="105" hasCustomPrompt="1"/>
          </p:nvPr>
        </p:nvSpPr>
        <p:spPr>
          <a:xfrm>
            <a:off x="8823960" y="640080"/>
            <a:ext cx="960120" cy="384048"/>
          </a:xfrm>
          <a:prstGeom prst="rect">
            <a:avLst/>
          </a:prstGeom>
          <a:noFill/>
          <a:ln/>
        </p:spPr>
        <p:txBody>
          <a:bodyPr wrap="square" lIns="0" tIns="27432" rIns="0" bIns="0" rtlCol="0" anchor="t">
            <a:noAutofit/>
          </a:bodyPr>
          <a:lstStyle>
            <a:lvl1pPr marL="0" indent="0">
              <a:buNone/>
              <a:defRPr lang="en-US" sz="2200" b="1" dirty="0">
                <a:solidFill>
                  <a:srgbClr val="B5431F"/>
                </a:solidFill>
                <a:latin typeface="Arial" pitchFamily="34" charset="0"/>
                <a:ea typeface="Arial" pitchFamily="34" charset="-122"/>
                <a:cs typeface="Arial" pitchFamily="34" charset="-120"/>
              </a:defRPr>
            </a:lvl1pPr>
          </a:lstStyle>
          <a:p>
            <a:pPr marL="0" indent="0">
              <a:buNone/>
            </a:pPr>
            <a:r>
              <a:rPr lang="en-US" sz="2200" b="1" i="1" dirty="0">
                <a:solidFill>
                  <a:srgbClr val="9AA0A6"/>
                </a:solidFill>
                <a:latin typeface="Arial" pitchFamily="34" charset="0"/>
                <a:ea typeface="Arial" pitchFamily="34" charset="-122"/>
                <a:cs typeface="Arial" pitchFamily="34" charset="-120"/>
              </a:rPr>
              <a:t>00</a:t>
            </a:r>
            <a:endParaRPr lang="en-US" sz="2200" dirty="0"/>
          </a:p>
        </p:txBody>
      </p:sp>
      <p:sp>
        <p:nvSpPr>
          <p:cNvPr id="8" name="Text 3"/>
          <p:cNvSpPr>
            <a:spLocks noGrp="1"/>
          </p:cNvSpPr>
          <p:nvPr>
            <p:ph type="body" idx="106" hasCustomPrompt="1"/>
          </p:nvPr>
        </p:nvSpPr>
        <p:spPr>
          <a:xfrm>
            <a:off x="9921240" y="658368"/>
            <a:ext cx="1856232" cy="365760"/>
          </a:xfrm>
          <a:prstGeom prst="rect">
            <a:avLst/>
          </a:prstGeom>
          <a:noFill/>
          <a:ln/>
        </p:spPr>
        <p:txBody>
          <a:bodyPr wrap="square" lIns="0" tIns="27432" rIns="0" bIns="0" rtlCol="0" anchor="t">
            <a:noAutofit/>
          </a:bodyPr>
          <a:lstStyle>
            <a:lvl1pPr marL="0" indent="0">
              <a:buNone/>
              <a:defRPr lang="en-US" sz="1600" b="1" dirty="0">
                <a:solidFill>
                  <a:srgbClr val="2E8A80"/>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e.g. COMPILER</a:t>
            </a:r>
            <a:endParaRPr lang="en-US" sz="1600" dirty="0"/>
          </a:p>
        </p:txBody>
      </p:sp>
      <p:sp>
        <p:nvSpPr>
          <p:cNvPr id="9" name="Text 3"/>
          <p:cNvSpPr/>
          <p:nvPr/>
        </p:nvSpPr>
        <p:spPr>
          <a:xfrm>
            <a:off x="8823960" y="1097280"/>
            <a:ext cx="91440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STATUS</a:t>
            </a:r>
            <a:endParaRPr lang="en-US" sz="1000" dirty="0"/>
          </a:p>
        </p:txBody>
      </p:sp>
      <p:sp>
        <p:nvSpPr>
          <p:cNvPr id="11" name="Shape 4"/>
          <p:cNvSpPr/>
          <p:nvPr/>
        </p:nvSpPr>
        <p:spPr>
          <a:xfrm>
            <a:off x="411480" y="1499616"/>
            <a:ext cx="11365992" cy="0"/>
          </a:xfrm>
          <a:prstGeom prst="line">
            <a:avLst/>
          </a:prstGeom>
          <a:noFill/>
          <a:ln w="9525">
            <a:solidFill>
              <a:srgbClr val="C9CED6"/>
            </a:solidFill>
            <a:prstDash val="solid"/>
          </a:ln>
        </p:spPr>
        <p:txBody>
          <a:bodyPr/>
          <a:lstStyle/>
          <a:p>
            <a:endParaRPr lang="en-US"/>
          </a:p>
        </p:txBody>
      </p:sp>
      <p:sp>
        <p:nvSpPr>
          <p:cNvPr id="12" name="Text 5"/>
          <p:cNvSpPr/>
          <p:nvPr/>
        </p:nvSpPr>
        <p:spPr>
          <a:xfrm>
            <a:off x="41148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1</a:t>
            </a:r>
            <a:endParaRPr lang="en-US" sz="1400" dirty="0"/>
          </a:p>
        </p:txBody>
      </p:sp>
      <p:sp>
        <p:nvSpPr>
          <p:cNvPr id="13" name="Text 6"/>
          <p:cNvSpPr/>
          <p:nvPr/>
        </p:nvSpPr>
        <p:spPr>
          <a:xfrm>
            <a:off x="667512" y="1600200"/>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The decision</a:t>
            </a:r>
            <a:endParaRPr lang="en-US" sz="1400" dirty="0"/>
          </a:p>
        </p:txBody>
      </p:sp>
      <p:sp>
        <p:nvSpPr>
          <p:cNvPr id="14" name="Text 7"/>
          <p:cNvSpPr>
            <a:spLocks noGrp="1"/>
          </p:cNvSpPr>
          <p:nvPr>
            <p:ph type="body" idx="112" hasCustomPrompt="1"/>
          </p:nvPr>
        </p:nvSpPr>
        <p:spPr>
          <a:xfrm>
            <a:off x="411480" y="1892808"/>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What does the system decide today, who decides it, and what does a bad decision cost? Max 25 words.</a:t>
            </a:r>
            <a:endParaRPr lang="en-US" sz="1400" dirty="0"/>
          </a:p>
        </p:txBody>
      </p:sp>
      <p:sp>
        <p:nvSpPr>
          <p:cNvPr id="15" name="Text 7"/>
          <p:cNvSpPr/>
          <p:nvPr/>
        </p:nvSpPr>
        <p:spPr>
          <a:xfrm>
            <a:off x="411480" y="2990088"/>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2</a:t>
            </a:r>
            <a:endParaRPr lang="en-US" sz="1400" dirty="0"/>
          </a:p>
        </p:txBody>
      </p:sp>
      <p:sp>
        <p:nvSpPr>
          <p:cNvPr id="16" name="Text 8"/>
          <p:cNvSpPr/>
          <p:nvPr/>
        </p:nvSpPr>
        <p:spPr>
          <a:xfrm>
            <a:off x="667512" y="2990088"/>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Beat what, exactly?</a:t>
            </a:r>
            <a:endParaRPr lang="en-US" sz="1400" dirty="0"/>
          </a:p>
        </p:txBody>
      </p:sp>
      <p:sp>
        <p:nvSpPr>
          <p:cNvPr id="17" name="Text 9"/>
          <p:cNvSpPr>
            <a:spLocks noGrp="1"/>
          </p:cNvSpPr>
          <p:nvPr>
            <p:ph type="body" idx="115" hasCustomPrompt="1"/>
          </p:nvPr>
        </p:nvSpPr>
        <p:spPr>
          <a:xfrm>
            <a:off x="411480" y="3282696"/>
            <a:ext cx="3520440"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baseline you must beat, where it comes from, how hard you tuned it, and its number. Max 25 words.</a:t>
            </a:r>
            <a:endParaRPr lang="en-US" sz="1400" dirty="0"/>
          </a:p>
        </p:txBody>
      </p:sp>
      <p:sp>
        <p:nvSpPr>
          <p:cNvPr id="18" name="Text 9"/>
          <p:cNvSpPr/>
          <p:nvPr/>
        </p:nvSpPr>
        <p:spPr>
          <a:xfrm>
            <a:off x="411480" y="4379976"/>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3</a:t>
            </a:r>
            <a:endParaRPr lang="en-US" sz="1400" dirty="0"/>
          </a:p>
        </p:txBody>
      </p:sp>
      <p:sp>
        <p:nvSpPr>
          <p:cNvPr id="19" name="Text 10"/>
          <p:cNvSpPr/>
          <p:nvPr/>
        </p:nvSpPr>
        <p:spPr>
          <a:xfrm>
            <a:off x="667512" y="4379976"/>
            <a:ext cx="32644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Our approach</a:t>
            </a:r>
            <a:endParaRPr lang="en-US" sz="1400" dirty="0"/>
          </a:p>
        </p:txBody>
      </p:sp>
      <p:sp>
        <p:nvSpPr>
          <p:cNvPr id="20" name="Text 11"/>
          <p:cNvSpPr>
            <a:spLocks noGrp="1"/>
          </p:cNvSpPr>
          <p:nvPr>
            <p:ph type="body" idx="118" hasCustomPrompt="1"/>
          </p:nvPr>
        </p:nvSpPr>
        <p:spPr>
          <a:xfrm>
            <a:off x="411480" y="4672584"/>
            <a:ext cx="3520440" cy="1133856"/>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Model, its inputs, where the labels come from, and the cost of one inference. Max 30 words.</a:t>
            </a:r>
            <a:endParaRPr lang="en-US" sz="1400" dirty="0"/>
          </a:p>
        </p:txBody>
      </p:sp>
      <p:sp>
        <p:nvSpPr>
          <p:cNvPr id="21" name="Text 11"/>
          <p:cNvSpPr/>
          <p:nvPr/>
        </p:nvSpPr>
        <p:spPr>
          <a:xfrm>
            <a:off x="4206240" y="160020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4</a:t>
            </a:r>
            <a:endParaRPr lang="en-US" sz="1400" dirty="0"/>
          </a:p>
        </p:txBody>
      </p:sp>
      <p:sp>
        <p:nvSpPr>
          <p:cNvPr id="22" name="Text 12"/>
          <p:cNvSpPr/>
          <p:nvPr/>
        </p:nvSpPr>
        <p:spPr>
          <a:xfrm>
            <a:off x="4462272" y="1600200"/>
            <a:ext cx="3950208"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First result</a:t>
            </a:r>
            <a:endParaRPr lang="en-US" sz="1400" dirty="0"/>
          </a:p>
        </p:txBody>
      </p:sp>
      <p:sp>
        <p:nvSpPr>
          <p:cNvPr id="23" name="Shape 13"/>
          <p:cNvSpPr/>
          <p:nvPr/>
        </p:nvSpPr>
        <p:spPr>
          <a:xfrm>
            <a:off x="4206240" y="1892808"/>
            <a:ext cx="4206240" cy="2606040"/>
          </a:xfrm>
          <a:prstGeom prst="rect">
            <a:avLst/>
          </a:prstGeom>
          <a:ln w="9525">
            <a:solidFill>
              <a:srgbClr val="C9CED6"/>
            </a:solidFill>
            <a:prstDash val="solid"/>
          </a:ln>
        </p:spPr>
        <p:txBody>
          <a:bodyPr/>
          <a:lstStyle/>
          <a:p>
            <a:endParaRPr lang="en-US"/>
          </a:p>
        </p:txBody>
      </p:sp>
      <p:sp>
        <p:nvSpPr>
          <p:cNvPr id="24" name="Text 14"/>
          <p:cNvSpPr>
            <a:spLocks noGrp="1"/>
          </p:cNvSpPr>
          <p:nvPr>
            <p:ph type="pic" idx="122" hasCustomPrompt="1"/>
          </p:nvPr>
        </p:nvSpPr>
        <p:spPr>
          <a:xfrm>
            <a:off x="4206240" y="1892808"/>
            <a:ext cx="4206240" cy="2606040"/>
          </a:xfrm>
          <a:prstGeom prst="rect">
            <a:avLst/>
          </a:prstGeom>
          <a:noFill/>
          <a:ln/>
        </p:spPr>
        <p:txBody>
          <a:bodyPr wrap="square" lIns="91440" tIns="91440" rIns="91440" bIns="91440" rtlCol="0" anchor="ctr">
            <a:noAutofit/>
          </a:bodyPr>
          <a:lstStyle>
            <a:lvl1pPr marL="0" indent="0" algn="ctr">
              <a:buNone/>
              <a:defRPr lang="en-US" sz="1400" dirty="0">
                <a:solidFill>
                  <a:srgbClr val="6B7280"/>
                </a:solidFill>
                <a:latin typeface="Arial" pitchFamily="34" charset="0"/>
                <a:ea typeface="Arial" pitchFamily="34" charset="-122"/>
                <a:cs typeface="Arial" pitchFamily="34" charset="-120"/>
              </a:defRPr>
            </a:lvl1pPr>
          </a:lstStyle>
          <a:p>
            <a:pPr marL="0" indent="0" algn="ctr">
              <a:buNone/>
            </a:pPr>
            <a:r>
              <a:rPr lang="en-US" sz="1400" i="1" dirty="0">
                <a:solidFill>
                  <a:srgbClr val="9AA0A6"/>
                </a:solidFill>
                <a:latin typeface="Arial" pitchFamily="34" charset="0"/>
                <a:ea typeface="Arial" pitchFamily="34" charset="-122"/>
                <a:cs typeface="Arial" pitchFamily="34" charset="-120"/>
              </a:rPr>
              <a:t>Insert ONE plot. Label both axes. Put the baseline on the same axes. Or table or text is also fine</a:t>
            </a:r>
            <a:endParaRPr lang="en-US" sz="1400" dirty="0"/>
          </a:p>
        </p:txBody>
      </p:sp>
      <p:sp>
        <p:nvSpPr>
          <p:cNvPr id="25" name="Text 14"/>
          <p:cNvSpPr>
            <a:spLocks noGrp="1"/>
          </p:cNvSpPr>
          <p:nvPr>
            <p:ph type="body" idx="123" hasCustomPrompt="1"/>
          </p:nvPr>
        </p:nvSpPr>
        <p:spPr>
          <a:xfrm>
            <a:off x="4206240" y="4590288"/>
            <a:ext cx="4206240" cy="603504"/>
          </a:xfrm>
          <a:prstGeom prst="rect">
            <a:avLst/>
          </a:prstGeom>
          <a:noFill/>
          <a:ln/>
        </p:spPr>
        <p:txBody>
          <a:bodyPr wrap="square" lIns="0" tIns="27432" rIns="0" bIns="0" rtlCol="0" anchor="t">
            <a:noAutofit/>
          </a:bodyPr>
          <a:lstStyle>
            <a:lvl1pPr marL="0" indent="0">
              <a:buNone/>
              <a:defRPr lang="en-US" sz="1600" b="1" dirty="0">
                <a:solidFill>
                  <a:srgbClr val="1C3557"/>
                </a:solidFill>
                <a:latin typeface="Arial" pitchFamily="34" charset="0"/>
                <a:ea typeface="Arial" pitchFamily="34" charset="-122"/>
                <a:cs typeface="Arial" pitchFamily="34" charset="-120"/>
              </a:defRPr>
            </a:lvl1pPr>
          </a:lstStyle>
          <a:p>
            <a:pPr marL="0" indent="0">
              <a:buNone/>
            </a:pPr>
            <a:r>
              <a:rPr lang="en-US" sz="1600" b="1" i="1" dirty="0">
                <a:solidFill>
                  <a:srgbClr val="9AA0A6"/>
                </a:solidFill>
                <a:latin typeface="Arial" pitchFamily="34" charset="0"/>
                <a:ea typeface="Arial" pitchFamily="34" charset="-122"/>
                <a:cs typeface="Arial" pitchFamily="34" charset="-120"/>
              </a:rPr>
              <a:t>One sentence, one number: what the plot/result shows</a:t>
            </a:r>
            <a:endParaRPr lang="en-US" sz="1600" dirty="0"/>
          </a:p>
        </p:txBody>
      </p:sp>
      <p:sp>
        <p:nvSpPr>
          <p:cNvPr id="26" name="Text 14"/>
          <p:cNvSpPr>
            <a:spLocks noGrp="1"/>
          </p:cNvSpPr>
          <p:nvPr>
            <p:ph type="body" idx="124" hasCustomPrompt="1"/>
          </p:nvPr>
        </p:nvSpPr>
        <p:spPr>
          <a:xfrm>
            <a:off x="4206240" y="5230368"/>
            <a:ext cx="4206240" cy="576072"/>
          </a:xfrm>
          <a:prstGeom prst="rect">
            <a:avLst/>
          </a:prstGeom>
          <a:noFill/>
          <a:ln/>
        </p:spPr>
        <p:txBody>
          <a:bodyPr wrap="square" lIns="0" tIns="27432" rIns="0" bIns="0" rtlCol="0" anchor="t">
            <a:noAutofit/>
          </a:bodyPr>
          <a:lstStyle>
            <a:lvl1pPr marL="0" indent="0">
              <a:buNone/>
              <a:defRPr lang="en-US" sz="1200" dirty="0">
                <a:solidFill>
                  <a:srgbClr val="6B7280"/>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Measured on: machine, inputs, warm-up, median of N runs, spread. Max 20 words.</a:t>
            </a:r>
            <a:endParaRPr lang="en-US" sz="1200" dirty="0"/>
          </a:p>
        </p:txBody>
      </p:sp>
      <p:sp>
        <p:nvSpPr>
          <p:cNvPr id="27" name="Text 14"/>
          <p:cNvSpPr/>
          <p:nvPr/>
        </p:nvSpPr>
        <p:spPr>
          <a:xfrm>
            <a:off x="8686800" y="2005153"/>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5</a:t>
            </a:r>
            <a:endParaRPr lang="en-US" sz="1400" dirty="0"/>
          </a:p>
        </p:txBody>
      </p:sp>
      <p:sp>
        <p:nvSpPr>
          <p:cNvPr id="28" name="Text 15"/>
          <p:cNvSpPr/>
          <p:nvPr/>
        </p:nvSpPr>
        <p:spPr>
          <a:xfrm>
            <a:off x="8942832" y="2005153"/>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What broke or surprised us</a:t>
            </a:r>
            <a:endParaRPr lang="en-US" sz="1400" dirty="0"/>
          </a:p>
        </p:txBody>
      </p:sp>
      <p:sp>
        <p:nvSpPr>
          <p:cNvPr id="29" name="Text 16"/>
          <p:cNvSpPr>
            <a:spLocks noGrp="1"/>
          </p:cNvSpPr>
          <p:nvPr>
            <p:ph type="body" idx="127" hasCustomPrompt="1"/>
          </p:nvPr>
        </p:nvSpPr>
        <p:spPr>
          <a:xfrm>
            <a:off x="8686800" y="2297760"/>
            <a:ext cx="3090672" cy="1725599"/>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One thing that failed, did not reproduce, or surprised you, and what it taught you. Max 40 words.</a:t>
            </a:r>
            <a:endParaRPr lang="en-US" sz="1400" dirty="0"/>
          </a:p>
        </p:txBody>
      </p:sp>
      <p:sp>
        <p:nvSpPr>
          <p:cNvPr id="30" name="Text 16"/>
          <p:cNvSpPr/>
          <p:nvPr/>
        </p:nvSpPr>
        <p:spPr>
          <a:xfrm>
            <a:off x="8686800" y="4361690"/>
            <a:ext cx="256032" cy="274320"/>
          </a:xfrm>
          <a:prstGeom prst="rect">
            <a:avLst/>
          </a:prstGeom>
          <a:noFill/>
          <a:ln/>
        </p:spPr>
        <p:txBody>
          <a:bodyPr wrap="square" lIns="0" tIns="0" rIns="0" bIns="0" rtlCol="0" anchor="t"/>
          <a:lstStyle/>
          <a:p>
            <a:pPr marL="0" indent="0">
              <a:buNone/>
            </a:pPr>
            <a:r>
              <a:rPr lang="en-US" sz="1400" b="1" dirty="0">
                <a:solidFill>
                  <a:srgbClr val="B5431F"/>
                </a:solidFill>
                <a:latin typeface="Courier New" pitchFamily="34" charset="0"/>
                <a:ea typeface="Courier New" pitchFamily="34" charset="-122"/>
                <a:cs typeface="Courier New" pitchFamily="34" charset="-120"/>
              </a:rPr>
              <a:t>6</a:t>
            </a:r>
            <a:endParaRPr lang="en-US" sz="1400" dirty="0"/>
          </a:p>
        </p:txBody>
      </p:sp>
      <p:sp>
        <p:nvSpPr>
          <p:cNvPr id="31" name="Text 17"/>
          <p:cNvSpPr/>
          <p:nvPr/>
        </p:nvSpPr>
        <p:spPr>
          <a:xfrm>
            <a:off x="8942832" y="4361690"/>
            <a:ext cx="2834640" cy="274320"/>
          </a:xfrm>
          <a:prstGeom prst="rect">
            <a:avLst/>
          </a:prstGeom>
          <a:noFill/>
          <a:ln/>
        </p:spPr>
        <p:txBody>
          <a:bodyPr wrap="square" lIns="0" tIns="0" rIns="0" bIns="0" rtlCol="0" anchor="t"/>
          <a:lstStyle/>
          <a:p>
            <a:pPr marL="0" indent="0">
              <a:buNone/>
            </a:pPr>
            <a:r>
              <a:rPr lang="en-US" sz="1400" b="1" dirty="0">
                <a:solidFill>
                  <a:srgbClr val="1C3557"/>
                </a:solidFill>
                <a:latin typeface="Arial" pitchFamily="34" charset="0"/>
                <a:ea typeface="Arial" pitchFamily="34" charset="-122"/>
                <a:cs typeface="Arial" pitchFamily="34" charset="-120"/>
              </a:rPr>
              <a:t>Next six weeks</a:t>
            </a:r>
            <a:endParaRPr lang="en-US" sz="1400" dirty="0"/>
          </a:p>
        </p:txBody>
      </p:sp>
      <p:sp>
        <p:nvSpPr>
          <p:cNvPr id="32" name="Text 18"/>
          <p:cNvSpPr>
            <a:spLocks noGrp="1"/>
          </p:cNvSpPr>
          <p:nvPr>
            <p:ph type="body" idx="130" hasCustomPrompt="1"/>
          </p:nvPr>
        </p:nvSpPr>
        <p:spPr>
          <a:xfrm>
            <a:off x="8686800" y="4654298"/>
            <a:ext cx="3090672" cy="960120"/>
          </a:xfrm>
          <a:prstGeom prst="rect">
            <a:avLst/>
          </a:prstGeom>
          <a:noFill/>
          <a:ln/>
        </p:spPr>
        <p:txBody>
          <a:bodyPr wrap="square" lIns="0" tIns="27432" rIns="0" bIns="0" rtlCol="0" anchor="t">
            <a:noAutofit/>
          </a:bodyPr>
          <a:lstStyle>
            <a:lvl1pPr marL="0" indent="0">
              <a:buNone/>
              <a:defRPr lang="en-US" sz="1400" dirty="0">
                <a:solidFill>
                  <a:srgbClr val="1F2937"/>
                </a:solidFill>
                <a:latin typeface="Arial" pitchFamily="34" charset="0"/>
                <a:ea typeface="Arial" pitchFamily="34" charset="-122"/>
                <a:cs typeface="Arial" pitchFamily="34" charset="-120"/>
              </a:defRPr>
            </a:lvl1pPr>
          </a:lstStyle>
          <a:p>
            <a:pPr marL="0" indent="0">
              <a:buNone/>
            </a:pPr>
            <a:r>
              <a:rPr lang="en-US" sz="1400" i="1" dirty="0">
                <a:solidFill>
                  <a:srgbClr val="9AA0A6"/>
                </a:solidFill>
                <a:latin typeface="Arial" pitchFamily="34" charset="0"/>
                <a:ea typeface="Arial" pitchFamily="34" charset="-122"/>
                <a:cs typeface="Arial" pitchFamily="34" charset="-120"/>
              </a:rPr>
              <a:t>The experiment that decides the project, the biggest risk, and your fallback. Max 20 words.</a:t>
            </a:r>
            <a:endParaRPr lang="en-US" sz="1400" dirty="0"/>
          </a:p>
        </p:txBody>
      </p:sp>
      <p:sp>
        <p:nvSpPr>
          <p:cNvPr id="37" name="Shape 21"/>
          <p:cNvSpPr/>
          <p:nvPr/>
        </p:nvSpPr>
        <p:spPr>
          <a:xfrm>
            <a:off x="411480" y="5943600"/>
            <a:ext cx="11365992" cy="0"/>
          </a:xfrm>
          <a:prstGeom prst="line">
            <a:avLst/>
          </a:prstGeom>
          <a:noFill/>
          <a:ln w="9525">
            <a:solidFill>
              <a:srgbClr val="C9CED6"/>
            </a:solidFill>
            <a:prstDash val="solid"/>
          </a:ln>
        </p:spPr>
        <p:txBody>
          <a:bodyPr/>
          <a:lstStyle/>
          <a:p>
            <a:endParaRPr lang="en-US"/>
          </a:p>
        </p:txBody>
      </p:sp>
      <p:sp>
        <p:nvSpPr>
          <p:cNvPr id="38" name="Text 22"/>
          <p:cNvSpPr/>
          <p:nvPr/>
        </p:nvSpPr>
        <p:spPr>
          <a:xfrm>
            <a:off x="411480" y="6053328"/>
            <a:ext cx="1280160" cy="201168"/>
          </a:xfrm>
          <a:prstGeom prst="rect">
            <a:avLst/>
          </a:prstGeom>
          <a:noFill/>
          <a:ln/>
        </p:spPr>
        <p:txBody>
          <a:bodyPr wrap="square" lIns="0" tIns="0" rIns="0" bIns="0" rtlCol="0" anchor="t"/>
          <a:lstStyle/>
          <a:p>
            <a:pPr marL="0" indent="0">
              <a:buNone/>
            </a:pPr>
            <a:r>
              <a:rPr lang="en-US" sz="1000" kern="0" spc="100" dirty="0">
                <a:solidFill>
                  <a:srgbClr val="6B7280"/>
                </a:solidFill>
                <a:latin typeface="Courier New" pitchFamily="34" charset="0"/>
                <a:ea typeface="Courier New" pitchFamily="34" charset="-122"/>
                <a:cs typeface="Courier New" pitchFamily="34" charset="-120"/>
              </a:rPr>
              <a:t>GATE CHECK</a:t>
            </a:r>
            <a:endParaRPr lang="en-US" sz="1000" dirty="0"/>
          </a:p>
        </p:txBody>
      </p:sp>
      <p:sp>
        <p:nvSpPr>
          <p:cNvPr id="39" name="Text 23"/>
          <p:cNvSpPr/>
          <p:nvPr/>
        </p:nvSpPr>
        <p:spPr>
          <a:xfrm>
            <a:off x="411480" y="6254496"/>
            <a:ext cx="1280160" cy="201168"/>
          </a:xfrm>
          <a:prstGeom prst="rect">
            <a:avLst/>
          </a:prstGeom>
          <a:noFill/>
          <a:ln/>
        </p:spPr>
        <p:txBody>
          <a:bodyPr wrap="square" lIns="0" tIns="0" rIns="0" bIns="0" rtlCol="0" anchor="t"/>
          <a:lstStyle/>
          <a:p>
            <a:pPr marL="0" indent="0">
              <a:buNone/>
            </a:pPr>
            <a:r>
              <a:rPr lang="en-US" sz="1000" dirty="0">
                <a:solidFill>
                  <a:srgbClr val="6B7280"/>
                </a:solidFill>
                <a:latin typeface="Arial" pitchFamily="34" charset="0"/>
                <a:ea typeface="Arial" pitchFamily="34" charset="-122"/>
                <a:cs typeface="Arial" pitchFamily="34" charset="-120"/>
              </a:rPr>
              <a:t>the five constraints</a:t>
            </a:r>
            <a:endParaRPr lang="en-US" sz="1000" dirty="0"/>
          </a:p>
        </p:txBody>
      </p:sp>
      <p:sp>
        <p:nvSpPr>
          <p:cNvPr id="40" name="Text 24"/>
          <p:cNvSpPr/>
          <p:nvPr/>
        </p:nvSpPr>
        <p:spPr>
          <a:xfrm>
            <a:off x="1783080"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Safe when wrong</a:t>
            </a:r>
            <a:endParaRPr lang="en-US" sz="1100" dirty="0"/>
          </a:p>
        </p:txBody>
      </p:sp>
      <p:sp>
        <p:nvSpPr>
          <p:cNvPr id="41" name="Text 25"/>
          <p:cNvSpPr>
            <a:spLocks noGrp="1"/>
          </p:cNvSpPr>
          <p:nvPr>
            <p:ph type="body" idx="139" hasCustomPrompt="1"/>
          </p:nvPr>
        </p:nvSpPr>
        <p:spPr>
          <a:xfrm>
            <a:off x="1783080"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2" name="Text 25"/>
          <p:cNvSpPr/>
          <p:nvPr/>
        </p:nvSpPr>
        <p:spPr>
          <a:xfrm>
            <a:off x="3803904"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Labels affordable</a:t>
            </a:r>
            <a:endParaRPr lang="en-US" sz="1100" dirty="0"/>
          </a:p>
        </p:txBody>
      </p:sp>
      <p:sp>
        <p:nvSpPr>
          <p:cNvPr id="43" name="Text 26"/>
          <p:cNvSpPr>
            <a:spLocks noGrp="1"/>
          </p:cNvSpPr>
          <p:nvPr>
            <p:ph type="body" idx="141" hasCustomPrompt="1"/>
          </p:nvPr>
        </p:nvSpPr>
        <p:spPr>
          <a:xfrm>
            <a:off x="3803904"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4" name="Text 26"/>
          <p:cNvSpPr/>
          <p:nvPr/>
        </p:nvSpPr>
        <p:spPr>
          <a:xfrm>
            <a:off x="5824728"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Fits the budget</a:t>
            </a:r>
            <a:endParaRPr lang="en-US" sz="1100" dirty="0"/>
          </a:p>
        </p:txBody>
      </p:sp>
      <p:sp>
        <p:nvSpPr>
          <p:cNvPr id="45" name="Text 27"/>
          <p:cNvSpPr>
            <a:spLocks noGrp="1"/>
          </p:cNvSpPr>
          <p:nvPr>
            <p:ph type="body" idx="143" hasCustomPrompt="1"/>
          </p:nvPr>
        </p:nvSpPr>
        <p:spPr>
          <a:xfrm>
            <a:off x="5824728"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6" name="Text 27"/>
          <p:cNvSpPr/>
          <p:nvPr/>
        </p:nvSpPr>
        <p:spPr>
          <a:xfrm>
            <a:off x="7845552"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Beats a tuned baseline</a:t>
            </a:r>
            <a:endParaRPr lang="en-US" sz="1100" dirty="0"/>
          </a:p>
        </p:txBody>
      </p:sp>
      <p:sp>
        <p:nvSpPr>
          <p:cNvPr id="47" name="Text 28"/>
          <p:cNvSpPr>
            <a:spLocks noGrp="1"/>
          </p:cNvSpPr>
          <p:nvPr>
            <p:ph type="body" idx="145" hasCustomPrompt="1"/>
          </p:nvPr>
        </p:nvSpPr>
        <p:spPr>
          <a:xfrm>
            <a:off x="7845552"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
        <p:nvSpPr>
          <p:cNvPr id="48" name="Text 28"/>
          <p:cNvSpPr/>
          <p:nvPr/>
        </p:nvSpPr>
        <p:spPr>
          <a:xfrm>
            <a:off x="9866376" y="6035040"/>
            <a:ext cx="1911096" cy="219456"/>
          </a:xfrm>
          <a:prstGeom prst="rect">
            <a:avLst/>
          </a:prstGeom>
          <a:noFill/>
          <a:ln/>
        </p:spPr>
        <p:txBody>
          <a:bodyPr wrap="square" lIns="0" tIns="0" rIns="0" bIns="0" rtlCol="0" anchor="t"/>
          <a:lstStyle/>
          <a:p>
            <a:pPr marL="0" indent="0">
              <a:buNone/>
            </a:pPr>
            <a:r>
              <a:rPr lang="en-US" sz="1100" b="1" dirty="0">
                <a:solidFill>
                  <a:srgbClr val="1C3557"/>
                </a:solidFill>
                <a:latin typeface="Arial" pitchFamily="34" charset="0"/>
                <a:ea typeface="Arial" pitchFamily="34" charset="-122"/>
                <a:cs typeface="Arial" pitchFamily="34" charset="-120"/>
              </a:rPr>
              <a:t>Survives a new workload</a:t>
            </a:r>
            <a:endParaRPr lang="en-US" sz="1100" dirty="0"/>
          </a:p>
        </p:txBody>
      </p:sp>
      <p:sp>
        <p:nvSpPr>
          <p:cNvPr id="49" name="Text 29"/>
          <p:cNvSpPr>
            <a:spLocks noGrp="1"/>
          </p:cNvSpPr>
          <p:nvPr>
            <p:ph type="body" idx="147" hasCustomPrompt="1"/>
          </p:nvPr>
        </p:nvSpPr>
        <p:spPr>
          <a:xfrm>
            <a:off x="9866376" y="6263640"/>
            <a:ext cx="1911096" cy="301752"/>
          </a:xfrm>
          <a:prstGeom prst="rect">
            <a:avLst/>
          </a:prstGeom>
          <a:noFill/>
          <a:ln/>
        </p:spPr>
        <p:txBody>
          <a:bodyPr wrap="square" lIns="0" tIns="27432" rIns="0" bIns="0" rtlCol="0" anchor="t">
            <a:noAutofit/>
          </a:bodyPr>
          <a:lstStyle>
            <a:lvl1pPr marL="0" indent="0">
              <a:buNone/>
              <a:defRPr lang="en-US" sz="1200" dirty="0">
                <a:solidFill>
                  <a:srgbClr val="1F2937"/>
                </a:solidFill>
                <a:latin typeface="Arial" pitchFamily="34" charset="0"/>
                <a:ea typeface="Arial" pitchFamily="34" charset="-122"/>
                <a:cs typeface="Arial" pitchFamily="34" charset="-120"/>
              </a:defRPr>
            </a:lvl1pPr>
          </a:lstStyle>
          <a:p>
            <a:pPr marL="0" indent="0">
              <a:buNone/>
            </a:pPr>
            <a:r>
              <a:rPr lang="en-US" sz="1200" i="1" dirty="0">
                <a:solidFill>
                  <a:srgbClr val="9AA0A6"/>
                </a:solidFill>
                <a:latin typeface="Arial" pitchFamily="34" charset="0"/>
                <a:ea typeface="Arial" pitchFamily="34" charset="-122"/>
                <a:cs typeface="Arial" pitchFamily="34" charset="-120"/>
              </a:rPr>
              <a:t>yes / unsure / no, and why</a:t>
            </a: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 Id="rId9" Type="http://schemas.openxmlformats.org/officeDocument/2006/relationships/image" Target="../media/result.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a:spLocks noGrp="1"/>
          </p:cNvSpPr>
          <p:nvPr>
            <p:ph type="body" idx="101" hasCustomPrompt="1"/>
          </p:nvPr>
        </p:nvSpPr>
        <p:spPr/>
        <p:txBody>
          <a:bodyPr>
            <a:noAutofit/>
          </a:bodyPr>
          <a:lstStyle/>
          <a:p>
            <a:pPr marL="0" indent="0">
              <a:buNone/>
            </a:pPr>
            <a:r>
              <a:rPr lang="en-US" dirty="0"/>
              <a:t>Do Learned Indexes Still Win on Modern Hardware?</a:t>
            </a:r>
          </a:p>
        </p:txBody>
      </p:sp>
      <p:sp>
        <p:nvSpPr>
          <p:cNvPr id="5" name="Text 3"/>
          <p:cNvSpPr>
            <a:spLocks noGrp="1"/>
          </p:cNvSpPr>
          <p:nvPr>
            <p:ph type="body" idx="105" hasCustomPrompt="1"/>
          </p:nvPr>
        </p:nvSpPr>
        <p:spPr/>
        <p:txBody>
          <a:bodyPr>
            <a:noAutofit/>
          </a:bodyPr>
          <a:lstStyle/>
          <a:p>
            <a:pPr marL="0" indent="0">
              <a:buNone/>
            </a:pPr>
            <a:r>
              <a:rPr lang="en-US" dirty="0"/>
              <a:t>01</a:t>
            </a:r>
          </a:p>
        </p:txBody>
      </p:sp>
      <p:sp>
        <p:nvSpPr>
          <p:cNvPr id="6" name="Text 3"/>
          <p:cNvSpPr>
            <a:spLocks noGrp="1"/>
          </p:cNvSpPr>
          <p:nvPr>
            <p:ph type="body" idx="106" hasCustomPrompt="1"/>
          </p:nvPr>
        </p:nvSpPr>
        <p:spPr/>
        <p:txBody>
          <a:bodyPr>
            <a:noAutofit/>
          </a:bodyPr>
          <a:lstStyle/>
          <a:p>
            <a:pPr marL="0" indent="0">
              <a:buNone/>
            </a:pPr>
            <a:r>
              <a:rPr lang="en-US" dirty="0"/>
              <a:t>DATABASES</a:t>
            </a:r>
          </a:p>
        </p:txBody>
      </p:sp>
      <p:sp>
        <p:nvSpPr>
          <p:cNvPr id="7" name="Text 4"/>
          <p:cNvSpPr>
            <a:spLocks noGrp="1"/>
          </p:cNvSpPr>
          <p:nvPr>
            <p:ph type="body" idx="4294967295" hasCustomPrompt="1"/>
          </p:nvPr>
        </p:nvSpPr>
        <p:spPr>
          <a:xfrm>
            <a:off x="9921240" y="1051560"/>
            <a:ext cx="1856232" cy="292608"/>
          </a:xfrm>
          <a:prstGeom prst="rect">
            <a:avLst/>
          </a:prstGeom>
        </p:spPr>
        <p:txBody>
          <a:bodyPr wrap="square" lIns="0" tIns="27432" rIns="0" bIns="0" anchor="t">
            <a:noAutofit/>
          </a:bodyPr>
          <a:lstStyle/>
          <a:p>
            <a:pPr marL="0" indent="0">
              <a:buNone/>
            </a:pPr>
            <a:r>
              <a:rPr lang="en-US" sz="1600" b="1" dirty="0">
                <a:solidFill>
                  <a:srgbClr val="2E8A80"/>
                </a:solidFill>
                <a:latin typeface="Arial" pitchFamily="34" charset="0"/>
                <a:cs typeface="Arial" pitchFamily="34" charset="-120"/>
              </a:rPr>
              <a:t>On track</a:t>
            </a:r>
          </a:p>
        </p:txBody>
      </p:sp>
      <p:sp>
        <p:nvSpPr>
          <p:cNvPr id="8" name="Text 7"/>
          <p:cNvSpPr>
            <a:spLocks noGrp="1"/>
          </p:cNvSpPr>
          <p:nvPr>
            <p:ph type="body" idx="112" hasCustomPrompt="1"/>
          </p:nvPr>
        </p:nvSpPr>
        <p:spPr/>
        <p:txBody>
          <a:bodyPr>
            <a:noAutofit/>
          </a:bodyPr>
          <a:lstStyle/>
          <a:p>
            <a:pPr marL="0" indent="0">
              <a:buNone/>
            </a:pPr>
            <a:r>
              <a:rPr lang="en-US" dirty="0"/>
              <a:t>Today a B+tree decides where key k lies in a sorted array. A bad guess costs extra cache misses, about 100 ns each.</a:t>
            </a:r>
          </a:p>
        </p:txBody>
      </p:sp>
      <p:sp>
        <p:nvSpPr>
          <p:cNvPr id="9" name="Text 9"/>
          <p:cNvSpPr>
            <a:spLocks noGrp="1"/>
          </p:cNvSpPr>
          <p:nvPr>
            <p:ph type="body" idx="115" hasCustomPrompt="1"/>
          </p:nvPr>
        </p:nvSpPr>
        <p:spPr/>
        <p:txBody>
          <a:bodyPr>
            <a:noAutofit/>
          </a:bodyPr>
          <a:lstStyle/>
          <a:p>
            <a:pPr marL="0" indent="0">
              <a:buNone/>
            </a:pPr>
            <a:r>
              <a:rPr lang="en-US" dirty="0"/>
              <a:t>Binary search (std::lower_bound, -O3), the standard SOSD baseline. A tuned B+tree comes next. Today: 525 ns per lookup at 100M keys.</a:t>
            </a:r>
          </a:p>
        </p:txBody>
      </p:sp>
      <p:sp>
        <p:nvSpPr>
          <p:cNvPr id="10" name="Text 11"/>
          <p:cNvSpPr>
            <a:spLocks noGrp="1"/>
          </p:cNvSpPr>
          <p:nvPr>
            <p:ph type="body" idx="118" hasCustomPrompt="1"/>
          </p:nvPr>
        </p:nvSpPr>
        <p:spPr/>
        <p:txBody>
          <a:bodyPr>
            <a:noAutofit/>
          </a:bodyPr>
          <a:lstStyle/>
          <a:p>
            <a:pPr marL="0" indent="0">
              <a:buNone/>
            </a:pPr>
            <a:r>
              <a:rPr lang="en-US" dirty="0"/>
              <a:t>Learned indexes (RMI, PGM, RadixSpline, ALEX) learn key to position. Labels are free: each key's array position. One inference: a few multiply-adds plus a bounded local search.</a:t>
            </a:r>
          </a:p>
        </p:txBody>
      </p:sp>
      <p:pic>
        <p:nvPicPr>
          <p:cNvPr id="11" name="First result plot" descr="Line plot of median lookup latency versus number of keys (100K to 100M). Binary search rises from about 100 ns to 525 ns. The learned RMI stays between 32 and 81 ns on uniform keys and between 70 and 132 ns on lognormal keys."/>
          <p:cNvPicPr>
            <a:picLocks noGrp="1" noChangeAspect="1"/>
          </p:cNvPicPr>
          <p:nvPr>
            <p:ph type="pic" idx="122"/>
          </p:nvPr>
        </p:nvPicPr>
        <p:blipFill>
          <a:blip r:embed="rId9"/>
          <a:stretch>
            <a:fillRect/>
          </a:stretch>
        </p:blipFill>
        <p:spPr>
          <a:xfrm>
            <a:off x="4206240" y="1892807"/>
            <a:ext cx="4206240" cy="2606040"/>
          </a:xfrm>
          <a:prstGeom prst="rect">
            <a:avLst/>
          </a:prstGeom>
        </p:spPr>
      </p:pic>
      <p:sp>
        <p:nvSpPr>
          <p:cNvPr id="12" name="Text 14"/>
          <p:cNvSpPr>
            <a:spLocks noGrp="1"/>
          </p:cNvSpPr>
          <p:nvPr>
            <p:ph type="body" idx="123" hasCustomPrompt="1"/>
          </p:nvPr>
        </p:nvSpPr>
        <p:spPr/>
        <p:txBody>
          <a:bodyPr>
            <a:noAutofit/>
          </a:bodyPr>
          <a:lstStyle/>
          <a:p>
            <a:pPr marL="0" indent="0">
              <a:buNone/>
            </a:pPr>
            <a:r>
              <a:rPr lang="en-US" dirty="0"/>
              <a:t>At 100M uniform keys, the RMI cuts lookup time 6.5x: 525 to 81 ns.</a:t>
            </a:r>
          </a:p>
        </p:txBody>
      </p:sp>
      <p:sp>
        <p:nvSpPr>
          <p:cNvPr id="13" name="Text 14"/>
          <p:cNvSpPr>
            <a:spLocks noGrp="1"/>
          </p:cNvSpPr>
          <p:nvPr>
            <p:ph type="body" idx="124" hasCustomPrompt="1"/>
          </p:nvPr>
        </p:nvSpPr>
        <p:spPr/>
        <p:txBody>
          <a:bodyPr>
            <a:noAutofit/>
          </a:bodyPr>
          <a:lstStyle/>
          <a:p>
            <a:pPr marL="0" indent="0">
              <a:buNone/>
            </a:pPr>
            <a:r>
              <a:rPr lang="en-US" dirty="0"/>
              <a:t>AMD Ryzen AI 7 350 (Zen 5), pinned core, 2M random lookups, 1 warm-up, median of 5 runs, bars min/max.</a:t>
            </a:r>
          </a:p>
        </p:txBody>
      </p:sp>
      <p:sp>
        <p:nvSpPr>
          <p:cNvPr id="14" name="Text 16"/>
          <p:cNvSpPr>
            <a:spLocks noGrp="1"/>
          </p:cNvSpPr>
          <p:nvPr>
            <p:ph type="body" idx="127" hasCustomPrompt="1"/>
          </p:nvPr>
        </p:nvSpPr>
        <p:spPr/>
        <p:txBody>
          <a:bodyPr>
            <a:noAutofit/>
          </a:bodyPr>
          <a:lstStyle/>
          <a:p>
            <a:pPr marL="0" indent="0">
              <a:buNone/>
            </a:pPr>
            <a:r>
              <a:rPr lang="en-US" dirty="0"/>
              <a:t>Key distribution matters more than expected. With the same 2.3 MB model at 100M keys, lognormal lookups took 226 ns versus 81 ns for uniform. At 10M keys, a 58 KB model lost to binary search. Lesson: test skewed data.</a:t>
            </a:r>
          </a:p>
        </p:txBody>
      </p:sp>
      <p:sp>
        <p:nvSpPr>
          <p:cNvPr id="15" name="Text 18"/>
          <p:cNvSpPr>
            <a:spLocks noGrp="1"/>
          </p:cNvSpPr>
          <p:nvPr>
            <p:ph type="body" idx="130" hasCustomPrompt="1"/>
          </p:nvPr>
        </p:nvSpPr>
        <p:spPr/>
        <p:txBody>
          <a:bodyPr>
            <a:noAutofit/>
          </a:bodyPr>
          <a:lstStyle/>
          <a:p>
            <a:pPr marL="0" indent="0">
              <a:buNone/>
            </a:pPr>
            <a:r>
              <a:rPr lang="en-US" dirty="0"/>
              <a:t>Decisive run: SOSD, four datasets, perf, on AMD, Intel, ARM. Risk: counters blocked in WSL2/macOS. Fallback: AWS bare-metal.</a:t>
            </a:r>
          </a:p>
        </p:txBody>
      </p:sp>
      <p:sp>
        <p:nvSpPr>
          <p:cNvPr id="17" name="Text 25"/>
          <p:cNvSpPr>
            <a:spLocks noGrp="1"/>
          </p:cNvSpPr>
          <p:nvPr>
            <p:ph type="body" idx="139" hasCustomPrompt="1"/>
          </p:nvPr>
        </p:nvSpPr>
        <p:spPr/>
        <p:txBody>
          <a:bodyPr>
            <a:noAutofit/>
          </a:bodyPr>
          <a:lstStyle/>
          <a:p>
            <a:pPr marL="0" indent="0">
              <a:buNone/>
            </a:pPr>
            <a:r>
              <a:rPr lang="en-US" dirty="0"/>
              <a:t>Yes: search is bounded</a:t>
            </a:r>
          </a:p>
        </p:txBody>
      </p:sp>
      <p:sp>
        <p:nvSpPr>
          <p:cNvPr id="18" name="Text 26"/>
          <p:cNvSpPr>
            <a:spLocks noGrp="1"/>
          </p:cNvSpPr>
          <p:nvPr>
            <p:ph type="body" idx="141" hasCustomPrompt="1"/>
          </p:nvPr>
        </p:nvSpPr>
        <p:spPr/>
        <p:txBody>
          <a:bodyPr>
            <a:noAutofit/>
          </a:bodyPr>
          <a:lstStyle/>
          <a:p>
            <a:pPr marL="0" indent="0">
              <a:buNone/>
            </a:pPr>
            <a:r>
              <a:rPr lang="en-US" dirty="0"/>
              <a:t>Yes: labels = positions</a:t>
            </a:r>
          </a:p>
        </p:txBody>
      </p:sp>
      <p:sp>
        <p:nvSpPr>
          <p:cNvPr id="19" name="Text 27"/>
          <p:cNvSpPr>
            <a:spLocks noGrp="1"/>
          </p:cNvSpPr>
          <p:nvPr>
            <p:ph type="body" idx="143" hasCustomPrompt="1"/>
          </p:nvPr>
        </p:nvSpPr>
        <p:spPr/>
        <p:txBody>
          <a:bodyPr>
            <a:noAutofit/>
          </a:bodyPr>
          <a:lstStyle/>
          <a:p>
            <a:pPr marL="0" indent="0">
              <a:buNone/>
            </a:pPr>
            <a:r>
              <a:rPr lang="en-US" dirty="0"/>
              <a:t>Yes: model 0.3% of data</a:t>
            </a:r>
          </a:p>
        </p:txBody>
      </p:sp>
      <p:sp>
        <p:nvSpPr>
          <p:cNvPr id="20" name="Text 28"/>
          <p:cNvSpPr>
            <a:spLocks noGrp="1"/>
          </p:cNvSpPr>
          <p:nvPr>
            <p:ph type="body" idx="145" hasCustomPrompt="1"/>
          </p:nvPr>
        </p:nvSpPr>
        <p:spPr/>
        <p:txBody>
          <a:bodyPr>
            <a:noAutofit/>
          </a:bodyPr>
          <a:lstStyle/>
          <a:p>
            <a:pPr marL="0" indent="0">
              <a:buNone/>
            </a:pPr>
            <a:r>
              <a:rPr lang="en-US" dirty="0"/>
              <a:t>Unsure: no B+tree yet</a:t>
            </a:r>
          </a:p>
        </p:txBody>
      </p:sp>
      <p:sp>
        <p:nvSpPr>
          <p:cNvPr id="21" name="Text 29"/>
          <p:cNvSpPr>
            <a:spLocks noGrp="1"/>
          </p:cNvSpPr>
          <p:nvPr>
            <p:ph type="body" idx="147" hasCustomPrompt="1"/>
          </p:nvPr>
        </p:nvSpPr>
        <p:spPr/>
        <p:txBody>
          <a:bodyPr>
            <a:noAutofit/>
          </a:bodyPr>
          <a:lstStyle/>
          <a:p>
            <a:pPr marL="0" indent="0">
              <a:buNone/>
            </a:pPr>
            <a:r>
              <a:rPr lang="en-US" dirty="0"/>
              <a:t>Unsure: no inserts yet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306</Words>
  <Application>Microsoft Macintosh PowerPoint</Application>
  <PresentationFormat>Widescreen</PresentationFormat>
  <Paragraphs>3</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Courier New</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 4930 Midterm Progress Slide</dc:title>
  <dc:subject>PptxGenJS Presentation</dc:subject>
  <dc:creator>PptxGenJS</dc:creator>
  <cp:lastModifiedBy>Santosh Pandey</cp:lastModifiedBy>
  <cp:revision>7</cp:revision>
  <dcterms:created xsi:type="dcterms:W3CDTF">2026-10-25T13:38:56Z</dcterms:created>
  <dcterms:modified xsi:type="dcterms:W3CDTF">2026-10-25T20:40:11Z</dcterms:modified>
</cp:coreProperties>
</file>