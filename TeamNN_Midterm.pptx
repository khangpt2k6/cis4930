
<file path=[Content_Types].xml><?xml version="1.0" encoding="utf-8"?>
<Types xmlns="http://schemas.openxmlformats.org/package/2006/content-types">
  <Default Extension="rels" ContentType="application/vnd.openxmlformats-package.relationships+xml"/>
  <Default Extension="png"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0"/>
    <p:restoredTop sz="94610"/>
  </p:normalViewPr>
  <p:slideViewPr>
    <p:cSldViewPr snapToGrid="0" snapToObjects="1">
      <p:cViewPr varScale="1">
        <p:scale>
          <a:sx n="123" d="100"/>
          <a:sy n="123"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29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TEMPLATE (delete nothing on the slide; write your talk script below this block)
1. This is the only slide you present. No title slide, no extra slides, no animations.
2. Do not move, resize, or restyle any box, and do not change a font size. The fonts are fixed so the room can read every team at the same size. If your text does not fit, cut words: the box is the word limit.
3. Paste as plain text (Ctrl+Shift+V on Windows, Cmd+Shift+Option+V on Mac) so you do not import another font size.
4. Box 4 takes exactly one plot. Click the picture icon to insert it. Label both axes and draw the baseline on the same axes.
5. Gate check: for each of the five constraints, write yes, unsure, or no, plus a few words of evidence. "Unsure" is an honest and acceptable answer at Week 9.
6. Status: on track, at risk, or pivoted. Pivoting is fine if box 5 says why.
TIMING: 6 minutes talking, 4 minutes questions. Spend about half your talk on boxes 4 and 5. End on box 7 and wait for an answer.
SUBMIT: save as TeamNN_Midterm.pptx (two-digit team number) and upload to Canvas by the deadline posted there, so all teams can be merged into one deck.
---- YOUR SCRIPT ----</a:t>
            </a:r>
          </a:p>
          <a:p>
            <a:r>
              <a:rPr lang="en-US" dirty="0"/>
              <a:t/>
            </a:r>
          </a:p>
          <a:p>
            <a:r>
              <a:rPr lang="en-US" dirty="0"/>
              <a:t>Box 1. The decision (about 40 seconds)</a:t>
            </a:r>
          </a:p>
          <a:p>
            <a:r>
              <a:rPr lang="en-US" dirty="0"/>
              <a:t>- Our project asks whether learned indexes (LURN-d IN-deks-iz) still outperform traditional indexes on modern hardware.</a:t>
            </a:r>
          </a:p>
          <a:p>
            <a:r>
              <a:rPr lang="en-US" dirty="0"/>
              <a:t>- Every database lookup must decide where a key is stored in a sorted array. Today, a B+tree (bee-plus tree) makes this decision through a sequence of comparisons.</a:t>
            </a:r>
          </a:p>
          <a:p>
            <a:r>
              <a:rPr lang="en-US" dirty="0"/>
              <a:t>- A poor decision does not return an incorrect result. However, it costs additional cache misses, and each miss to main memory costs approximately one hundred nanoseconds (NAN-oh-sek-unds).</a:t>
            </a:r>
          </a:p>
          <a:p>
            <a:r>
              <a:rPr lang="en-US" dirty="0"/>
              <a:t/>
            </a:r>
          </a:p>
          <a:p>
            <a:r>
              <a:rPr lang="en-US" dirty="0"/>
              <a:t>Box 2. The baseline (about 30 seconds)</a:t>
            </a:r>
          </a:p>
          <a:p>
            <a:r>
              <a:rPr lang="en-US" dirty="0"/>
              <a:t>- Our first baseline is binary search over the sorted array, using the standard library function lower_bound (LOH-er bound) with full compiler optimization. This is the reference baseline in the SOSD (ess-oh-ess-dee) benchmark.</a:t>
            </a:r>
          </a:p>
          <a:p>
            <a:r>
              <a:rPr lang="en-US" dirty="0"/>
              <a:t>- On our test machine, binary search requires 525 nanoseconds per lookup at one hundred million keys. A tuned B+tree and a hash table will be added as further baselines in the next phase.</a:t>
            </a:r>
          </a:p>
          <a:p>
            <a:r>
              <a:rPr lang="en-US" dirty="0"/>
              <a:t/>
            </a:r>
          </a:p>
          <a:p>
            <a:r>
              <a:rPr lang="en-US" dirty="0"/>
              <a:t>Box 3. Our approach (about 40 seconds)</a:t>
            </a:r>
          </a:p>
          <a:p>
            <a:r>
              <a:rPr lang="en-US" dirty="0"/>
              <a:t>- A learned index replaces the tree with a model that predicts the position of a key. We will evaluate four designs: the Recursive Model Index, or RMI (ar-em-eye), the PGM-index (pee-jee-em), RadixSpline (RAY-diks-spline), and ALEX (AL-eks).</a:t>
            </a:r>
          </a:p>
          <a:p>
            <a:r>
              <a:rPr lang="en-US" dirty="0"/>
              <a:t>- The training labels are free, because they are simply the positions of the keys in the sorted array.</a:t>
            </a:r>
          </a:p>
          <a:p>
            <a:r>
              <a:rPr lang="en-US" dirty="0"/>
              <a:t>- One inference costs a few multiply-add operations, followed by a local search inside a stored error bound. The result is therefore always exact.</a:t>
            </a:r>
          </a:p>
          <a:p>
            <a:r>
              <a:rPr lang="en-US" dirty="0"/>
              <a:t/>
            </a:r>
          </a:p>
          <a:p>
            <a:r>
              <a:rPr lang="en-US" dirty="0"/>
              <a:t>Box 4. First result (about 90 seconds)</a:t>
            </a:r>
          </a:p>
          <a:p>
            <a:r>
              <a:rPr lang="en-US" dirty="0"/>
              <a:t>- For the first result, we implemented a two-stage linear RMI, following Kraska (KRAS-kah) and colleagues. We compared it with binary search on two synthetic key distributions, uniform and lognormal (log-NOR-mul), from one hundred thousand to one hundred million keys.</a:t>
            </a:r>
          </a:p>
          <a:p>
            <a:r>
              <a:rPr lang="en-US" dirty="0"/>
              <a:t>- The horizontal axis shows the number of keys on a logarithmic (log-uh-RITH-mik) scale, and the vertical axis shows the median lookup latency. The dashed lines are the binary search baseline. The solid lines are the RMI, using the best of four model sizes at each point.</a:t>
            </a:r>
          </a:p>
          <a:p>
            <a:r>
              <a:rPr lang="en-US" dirty="0"/>
              <a:t>- Binary search slows down sharply once the data exceeds the 16-megabyte L3 (el-three) cache, because each lookup must then wait on main memory several times.</a:t>
            </a:r>
          </a:p>
          <a:p>
            <a:r>
              <a:rPr lang="en-US" dirty="0"/>
              <a:t>- The RMI remains much flatter. At one hundred million uniform keys, it reduces the lookup time from 525 to 81 nanoseconds, a speedup of approximately 6.5 times, with a model of only 2.3 megabytes.</a:t>
            </a:r>
          </a:p>
          <a:p>
            <a:r>
              <a:rPr lang="en-US" dirty="0"/>
              <a:t>- All measurements were taken on an AMD Ryzen (RY-zen) AI 7 350 laptop processor, with the thread pinned to a single core. Each point is the median of five runs of two million random lookups, after one warm-up run.</a:t>
            </a:r>
          </a:p>
          <a:p>
            <a:r>
              <a:rPr lang="en-US" dirty="0"/>
              <a:t/>
            </a:r>
          </a:p>
          <a:p>
            <a:r>
              <a:rPr lang="en-US" dirty="0"/>
              <a:t>Box 5. What surprised us (about 90 seconds)</a:t>
            </a:r>
          </a:p>
          <a:p>
            <a:r>
              <a:rPr lang="en-US" dirty="0"/>
              <a:t>- The most important observation concerns the key distribution. With the same 2.3-megabyte model at one hundred million keys, lognormal lookups required 226 nanoseconds, compared with 81 nanoseconds for uniform keys.</a:t>
            </a:r>
          </a:p>
          <a:p>
            <a:r>
              <a:rPr lang="en-US" dirty="0"/>
              <a:t>- With a very small model of 58 kilobytes at ten million keys, the RMI was in fact slower than binary search, at 341 compared with 314 nanoseconds. A linear model cannot follow a skewed distribution, so the error window, and therefore the local search, becomes large.</a:t>
            </a:r>
          </a:p>
          <a:p>
            <a:r>
              <a:rPr lang="en-US" dirty="0"/>
              <a:t>- This taught us that results on uniform data overstate the benefit. The real datasets in SOSD, and the PGM-index and RadixSpline, which adapt better to skew, are therefore central to the next phase.</a:t>
            </a:r>
          </a:p>
          <a:p>
            <a:r>
              <a:rPr lang="en-US" dirty="0"/>
              <a:t>- We also encountered a measurement problem. This processor combines two types of cores. Without pinning the thread to one core, the results were about ten percent slower and considerably noisier. We now pin every run, add a warm-up period, and report the spread.</a:t>
            </a:r>
          </a:p>
          <a:p>
            <a:r>
              <a:rPr lang="en-US" dirty="0"/>
              <a:t/>
            </a:r>
          </a:p>
          <a:p>
            <a:r>
              <a:rPr lang="en-US" dirty="0"/>
              <a:t>Box 6. Next six weeks (about 40 seconds)</a:t>
            </a:r>
          </a:p>
          <a:p>
            <a:r>
              <a:rPr lang="en-US" dirty="0"/>
              <a:t>- The experiment that decides the project is the full SOSD benchmark on four real datasets, with hardware performance counters, on AMD, Intel, and ARM processors.</a:t>
            </a:r>
          </a:p>
          <a:p>
            <a:r>
              <a:rPr lang="en-US" dirty="0"/>
              <a:t>- The main risk is access to these counters. The Linux perf (purf) tool generally cannot read hardware counters inside WSL2 (dub-ul-yoo ess el two), and it does not exist on macOS. Our fallback is to rent bare-metal (bair-MET-ul) cloud instances on AWS for these runs.</a:t>
            </a:r>
          </a:p>
          <a:p>
            <a:r>
              <a:rPr lang="en-US" dirty="0"/>
              <a:t/>
            </a:r>
          </a:p>
          <a:p>
            <a:r>
              <a:rPr lang="en-US" dirty="0"/>
              <a:t>Gate check (about 20 seconds)</a:t>
            </a:r>
          </a:p>
          <a:p>
            <a:r>
              <a:rPr lang="en-US" dirty="0"/>
              <a:t>- A wrong prediction is safe, because the search is bounded, and the labels are free. The model also fits the budget, at about 0.3 percent of the data size.</a:t>
            </a:r>
          </a:p>
          <a:p>
            <a:r>
              <a:rPr lang="en-US" dirty="0"/>
              <a:t>- We are unsure whether we beat a tuned baseline, because the B+tree is not yet integrated. We are also unsure about new workloads, because inserts have not been tested yet.</a:t>
            </a:r>
          </a:p>
          <a:p>
            <a:r>
              <a:rPr lang="en-US" dirty="0"/>
              <a:t/>
            </a:r>
          </a:p>
          <a:p>
            <a:r>
              <a:rPr lang="en-US" dirty="0"/>
              <a:t>Closing question (then wait for an answer)</a:t>
            </a:r>
          </a:p>
          <a:p>
            <a:r>
              <a:rPr lang="en-US" dirty="0"/>
              <a:t>- Our question for the class is the following: for the remaining weeks, should we prioritize more real datasets, or insert-heavy workloads with ALEX?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idterm Progress">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37744"/>
            <a:ext cx="8138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CIS 4930/6930  ML FOR COMPUTER SYSTEMS PROGRESS REPORT</a:t>
            </a:r>
            <a:endParaRPr lang="en-US" sz="1000" dirty="0"/>
          </a:p>
        </p:txBody>
      </p:sp>
      <p:sp>
        <p:nvSpPr>
          <p:cNvPr id="3" name="Text 1"/>
          <p:cNvSpPr>
            <a:spLocks noGrp="1"/>
          </p:cNvSpPr>
          <p:nvPr>
            <p:ph type="body" idx="101" hasCustomPrompt="1"/>
          </p:nvPr>
        </p:nvSpPr>
        <p:spPr>
          <a:xfrm>
            <a:off x="411480" y="420624"/>
            <a:ext cx="8183880" cy="694944"/>
          </a:xfrm>
          <a:prstGeom prst="rect">
            <a:avLst/>
          </a:prstGeom>
          <a:noFill/>
          <a:ln/>
        </p:spPr>
        <p:txBody>
          <a:bodyPr wrap="square" lIns="0" tIns="27432" rIns="0" bIns="0" rtlCol="0" anchor="b">
            <a:noAutofit/>
          </a:bodyPr>
          <a:lstStyle>
            <a:lvl1pPr marL="0" indent="0">
              <a:buNone/>
              <a:defRPr lang="en-US" sz="2200" b="1" dirty="0">
                <a:solidFill>
                  <a:srgbClr val="1C3557"/>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Project title</a:t>
            </a:r>
            <a:endParaRPr lang="en-US" sz="2200" dirty="0"/>
          </a:p>
        </p:txBody>
      </p:sp>
      <p:sp>
        <p:nvSpPr>
          <p:cNvPr id="5" name="Text 1"/>
          <p:cNvSpPr/>
          <p:nvPr/>
        </p:nvSpPr>
        <p:spPr>
          <a:xfrm>
            <a:off x="8823960" y="45720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TEAM</a:t>
            </a:r>
            <a:endParaRPr lang="en-US" sz="1000" dirty="0"/>
          </a:p>
        </p:txBody>
      </p:sp>
      <p:sp>
        <p:nvSpPr>
          <p:cNvPr id="6" name="Text 2"/>
          <p:cNvSpPr/>
          <p:nvPr/>
        </p:nvSpPr>
        <p:spPr>
          <a:xfrm>
            <a:off x="9921240" y="457200"/>
            <a:ext cx="1856232"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LAYER OF THE STACK</a:t>
            </a:r>
            <a:endParaRPr lang="en-US" sz="1000" dirty="0"/>
          </a:p>
        </p:txBody>
      </p:sp>
      <p:sp>
        <p:nvSpPr>
          <p:cNvPr id="7" name="Text 3"/>
          <p:cNvSpPr>
            <a:spLocks noGrp="1"/>
          </p:cNvSpPr>
          <p:nvPr>
            <p:ph type="body" idx="105" hasCustomPrompt="1"/>
          </p:nvPr>
        </p:nvSpPr>
        <p:spPr>
          <a:xfrm>
            <a:off x="8823960" y="640080"/>
            <a:ext cx="960120" cy="384048"/>
          </a:xfrm>
          <a:prstGeom prst="rect">
            <a:avLst/>
          </a:prstGeom>
          <a:noFill/>
          <a:ln/>
        </p:spPr>
        <p:txBody>
          <a:bodyPr wrap="square" lIns="0" tIns="27432" rIns="0" bIns="0" rtlCol="0" anchor="t">
            <a:noAutofit/>
          </a:bodyPr>
          <a:lstStyle>
            <a:lvl1pPr marL="0" indent="0">
              <a:buNone/>
              <a:defRPr lang="en-US" sz="2200" b="1" dirty="0">
                <a:solidFill>
                  <a:srgbClr val="B5431F"/>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00</a:t>
            </a:r>
            <a:endParaRPr lang="en-US" sz="2200" dirty="0"/>
          </a:p>
        </p:txBody>
      </p:sp>
      <p:sp>
        <p:nvSpPr>
          <p:cNvPr id="8" name="Text 3"/>
          <p:cNvSpPr>
            <a:spLocks noGrp="1"/>
          </p:cNvSpPr>
          <p:nvPr>
            <p:ph type="body" idx="106" hasCustomPrompt="1"/>
          </p:nvPr>
        </p:nvSpPr>
        <p:spPr>
          <a:xfrm>
            <a:off x="9921240" y="658368"/>
            <a:ext cx="1856232" cy="365760"/>
          </a:xfrm>
          <a:prstGeom prst="rect">
            <a:avLst/>
          </a:prstGeom>
          <a:noFill/>
          <a:ln/>
        </p:spPr>
        <p:txBody>
          <a:bodyPr wrap="square" lIns="0" tIns="27432" rIns="0" bIns="0" rtlCol="0" anchor="t">
            <a:noAutofit/>
          </a:bodyPr>
          <a:lstStyle>
            <a:lvl1pPr marL="0" indent="0">
              <a:buNone/>
              <a:defRPr lang="en-US" sz="1600" b="1" dirty="0">
                <a:solidFill>
                  <a:srgbClr val="2E8A80"/>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e.g. COMPILER</a:t>
            </a:r>
            <a:endParaRPr lang="en-US" sz="1600" dirty="0"/>
          </a:p>
        </p:txBody>
      </p:sp>
      <p:sp>
        <p:nvSpPr>
          <p:cNvPr id="9" name="Text 3"/>
          <p:cNvSpPr/>
          <p:nvPr/>
        </p:nvSpPr>
        <p:spPr>
          <a:xfrm>
            <a:off x="8823960" y="109728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STATUS</a:t>
            </a:r>
            <a:endParaRPr lang="en-US" sz="1000" dirty="0"/>
          </a:p>
        </p:txBody>
      </p:sp>
      <p:sp>
        <p:nvSpPr>
          <p:cNvPr id="11" name="Shape 4"/>
          <p:cNvSpPr/>
          <p:nvPr/>
        </p:nvSpPr>
        <p:spPr>
          <a:xfrm>
            <a:off x="411480" y="1499616"/>
            <a:ext cx="11365992" cy="0"/>
          </a:xfrm>
          <a:prstGeom prst="line">
            <a:avLst/>
          </a:prstGeom>
          <a:noFill/>
          <a:ln w="9525">
            <a:solidFill>
              <a:srgbClr val="C9CED6"/>
            </a:solidFill>
            <a:prstDash val="solid"/>
          </a:ln>
        </p:spPr>
        <p:txBody>
          <a:bodyPr/>
          <a:lstStyle/>
          <a:p>
            <a:endParaRPr lang="en-US"/>
          </a:p>
        </p:txBody>
      </p:sp>
      <p:sp>
        <p:nvSpPr>
          <p:cNvPr id="12" name="Text 5"/>
          <p:cNvSpPr/>
          <p:nvPr/>
        </p:nvSpPr>
        <p:spPr>
          <a:xfrm>
            <a:off x="41148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1</a:t>
            </a:r>
            <a:endParaRPr lang="en-US" sz="1400" dirty="0"/>
          </a:p>
        </p:txBody>
      </p:sp>
      <p:sp>
        <p:nvSpPr>
          <p:cNvPr id="13" name="Text 6"/>
          <p:cNvSpPr/>
          <p:nvPr/>
        </p:nvSpPr>
        <p:spPr>
          <a:xfrm>
            <a:off x="667512" y="1600200"/>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The decision</a:t>
            </a:r>
            <a:endParaRPr lang="en-US" sz="1400" dirty="0"/>
          </a:p>
        </p:txBody>
      </p:sp>
      <p:sp>
        <p:nvSpPr>
          <p:cNvPr id="14" name="Text 7"/>
          <p:cNvSpPr>
            <a:spLocks noGrp="1"/>
          </p:cNvSpPr>
          <p:nvPr>
            <p:ph type="body" idx="112" hasCustomPrompt="1"/>
          </p:nvPr>
        </p:nvSpPr>
        <p:spPr>
          <a:xfrm>
            <a:off x="411480" y="1892808"/>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What does the system decide today, who decides it, and what does a bad decision cost? Max 25 words.</a:t>
            </a:r>
            <a:endParaRPr lang="en-US" sz="1400" dirty="0"/>
          </a:p>
        </p:txBody>
      </p:sp>
      <p:sp>
        <p:nvSpPr>
          <p:cNvPr id="15" name="Text 7"/>
          <p:cNvSpPr/>
          <p:nvPr/>
        </p:nvSpPr>
        <p:spPr>
          <a:xfrm>
            <a:off x="411480" y="2990088"/>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2</a:t>
            </a:r>
            <a:endParaRPr lang="en-US" sz="1400" dirty="0"/>
          </a:p>
        </p:txBody>
      </p:sp>
      <p:sp>
        <p:nvSpPr>
          <p:cNvPr id="16" name="Text 8"/>
          <p:cNvSpPr/>
          <p:nvPr/>
        </p:nvSpPr>
        <p:spPr>
          <a:xfrm>
            <a:off x="667512" y="2990088"/>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Beat what, exactly?</a:t>
            </a:r>
            <a:endParaRPr lang="en-US" sz="1400" dirty="0"/>
          </a:p>
        </p:txBody>
      </p:sp>
      <p:sp>
        <p:nvSpPr>
          <p:cNvPr id="17" name="Text 9"/>
          <p:cNvSpPr>
            <a:spLocks noGrp="1"/>
          </p:cNvSpPr>
          <p:nvPr>
            <p:ph type="body" idx="115" hasCustomPrompt="1"/>
          </p:nvPr>
        </p:nvSpPr>
        <p:spPr>
          <a:xfrm>
            <a:off x="411480" y="3282696"/>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baseline you must beat, where it comes from, how hard you tuned it, and its number. Max 25 words.</a:t>
            </a:r>
            <a:endParaRPr lang="en-US" sz="1400" dirty="0"/>
          </a:p>
        </p:txBody>
      </p:sp>
      <p:sp>
        <p:nvSpPr>
          <p:cNvPr id="18" name="Text 9"/>
          <p:cNvSpPr/>
          <p:nvPr/>
        </p:nvSpPr>
        <p:spPr>
          <a:xfrm>
            <a:off x="411480" y="4379976"/>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3</a:t>
            </a:r>
            <a:endParaRPr lang="en-US" sz="1400" dirty="0"/>
          </a:p>
        </p:txBody>
      </p:sp>
      <p:sp>
        <p:nvSpPr>
          <p:cNvPr id="19" name="Text 10"/>
          <p:cNvSpPr/>
          <p:nvPr/>
        </p:nvSpPr>
        <p:spPr>
          <a:xfrm>
            <a:off x="667512" y="4379976"/>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Our approach</a:t>
            </a:r>
            <a:endParaRPr lang="en-US" sz="1400" dirty="0"/>
          </a:p>
        </p:txBody>
      </p:sp>
      <p:sp>
        <p:nvSpPr>
          <p:cNvPr id="20" name="Text 11"/>
          <p:cNvSpPr>
            <a:spLocks noGrp="1"/>
          </p:cNvSpPr>
          <p:nvPr>
            <p:ph type="body" idx="118" hasCustomPrompt="1"/>
          </p:nvPr>
        </p:nvSpPr>
        <p:spPr>
          <a:xfrm>
            <a:off x="411480" y="4672584"/>
            <a:ext cx="3520440" cy="1133856"/>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Model, its inputs, where the labels come from, and the cost of one inference. Max 30 words.</a:t>
            </a:r>
            <a:endParaRPr lang="en-US" sz="1400" dirty="0"/>
          </a:p>
        </p:txBody>
      </p:sp>
      <p:sp>
        <p:nvSpPr>
          <p:cNvPr id="21" name="Text 11"/>
          <p:cNvSpPr/>
          <p:nvPr/>
        </p:nvSpPr>
        <p:spPr>
          <a:xfrm>
            <a:off x="420624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4</a:t>
            </a:r>
            <a:endParaRPr lang="en-US" sz="1400" dirty="0"/>
          </a:p>
        </p:txBody>
      </p:sp>
      <p:sp>
        <p:nvSpPr>
          <p:cNvPr id="22" name="Text 12"/>
          <p:cNvSpPr/>
          <p:nvPr/>
        </p:nvSpPr>
        <p:spPr>
          <a:xfrm>
            <a:off x="4462272" y="1600200"/>
            <a:ext cx="39502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First result</a:t>
            </a:r>
            <a:endParaRPr lang="en-US" sz="1400" dirty="0"/>
          </a:p>
        </p:txBody>
      </p:sp>
      <p:sp>
        <p:nvSpPr>
          <p:cNvPr id="23" name="Shape 13"/>
          <p:cNvSpPr/>
          <p:nvPr/>
        </p:nvSpPr>
        <p:spPr>
          <a:xfrm>
            <a:off x="4206240" y="1892808"/>
            <a:ext cx="4206240" cy="2606040"/>
          </a:xfrm>
          <a:prstGeom prst="rect">
            <a:avLst/>
          </a:prstGeom>
          <a:ln w="9525">
            <a:solidFill>
              <a:srgbClr val="C9CED6"/>
            </a:solidFill>
            <a:prstDash val="solid"/>
          </a:ln>
        </p:spPr>
        <p:txBody>
          <a:bodyPr/>
          <a:lstStyle/>
          <a:p>
            <a:endParaRPr lang="en-US"/>
          </a:p>
        </p:txBody>
      </p:sp>
      <p:sp>
        <p:nvSpPr>
          <p:cNvPr id="24" name="Text 14"/>
          <p:cNvSpPr>
            <a:spLocks noGrp="1"/>
          </p:cNvSpPr>
          <p:nvPr>
            <p:ph type="pic" idx="122" hasCustomPrompt="1"/>
          </p:nvPr>
        </p:nvSpPr>
        <p:spPr>
          <a:xfrm>
            <a:off x="4206240" y="1892808"/>
            <a:ext cx="4206240" cy="2606040"/>
          </a:xfrm>
          <a:prstGeom prst="rect">
            <a:avLst/>
          </a:prstGeom>
          <a:noFill/>
          <a:ln/>
        </p:spPr>
        <p:txBody>
          <a:bodyPr wrap="square" lIns="91440" tIns="91440" rIns="91440" bIns="91440" rtlCol="0" anchor="ctr">
            <a:noAutofit/>
          </a:bodyPr>
          <a:lstStyle>
            <a:lvl1pPr marL="0" indent="0" algn="ctr">
              <a:buNone/>
              <a:defRPr lang="en-US" sz="1400" dirty="0">
                <a:solidFill>
                  <a:srgbClr val="6B7280"/>
                </a:solidFill>
                <a:latin typeface="Arial" pitchFamily="34" charset="0"/>
                <a:ea typeface="Arial" pitchFamily="34" charset="-122"/>
                <a:cs typeface="Arial" pitchFamily="34" charset="-120"/>
              </a:defRPr>
            </a:lvl1pPr>
          </a:lstStyle>
          <a:p>
            <a:pPr marL="0" indent="0" algn="ctr">
              <a:buNone/>
            </a:pPr>
            <a:r>
              <a:rPr lang="en-US" sz="1400" i="1" dirty="0">
                <a:solidFill>
                  <a:srgbClr val="9AA0A6"/>
                </a:solidFill>
                <a:latin typeface="Arial" pitchFamily="34" charset="0"/>
                <a:ea typeface="Arial" pitchFamily="34" charset="-122"/>
                <a:cs typeface="Arial" pitchFamily="34" charset="-120"/>
              </a:rPr>
              <a:t>Insert ONE plot. Label both axes. Put the baseline on the same axes. Or table or text is also fine</a:t>
            </a:r>
            <a:endParaRPr lang="en-US" sz="1400" dirty="0"/>
          </a:p>
        </p:txBody>
      </p:sp>
      <p:sp>
        <p:nvSpPr>
          <p:cNvPr id="25" name="Text 14"/>
          <p:cNvSpPr>
            <a:spLocks noGrp="1"/>
          </p:cNvSpPr>
          <p:nvPr>
            <p:ph type="body" idx="123" hasCustomPrompt="1"/>
          </p:nvPr>
        </p:nvSpPr>
        <p:spPr>
          <a:xfrm>
            <a:off x="4206240" y="4590288"/>
            <a:ext cx="4206240" cy="603504"/>
          </a:xfrm>
          <a:prstGeom prst="rect">
            <a:avLst/>
          </a:prstGeom>
          <a:noFill/>
          <a:ln/>
        </p:spPr>
        <p:txBody>
          <a:bodyPr wrap="square" lIns="0" tIns="27432" rIns="0" bIns="0" rtlCol="0" anchor="t">
            <a:noAutofit/>
          </a:bodyPr>
          <a:lstStyle>
            <a:lvl1pPr marL="0" indent="0">
              <a:buNone/>
              <a:defRPr lang="en-US" sz="1600" b="1" dirty="0">
                <a:solidFill>
                  <a:srgbClr val="1C3557"/>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One sentence, one number: what the plot/result shows</a:t>
            </a:r>
            <a:endParaRPr lang="en-US" sz="1600" dirty="0"/>
          </a:p>
        </p:txBody>
      </p:sp>
      <p:sp>
        <p:nvSpPr>
          <p:cNvPr id="26" name="Text 14"/>
          <p:cNvSpPr>
            <a:spLocks noGrp="1"/>
          </p:cNvSpPr>
          <p:nvPr>
            <p:ph type="body" idx="124" hasCustomPrompt="1"/>
          </p:nvPr>
        </p:nvSpPr>
        <p:spPr>
          <a:xfrm>
            <a:off x="4206240" y="5230368"/>
            <a:ext cx="4206240" cy="576072"/>
          </a:xfrm>
          <a:prstGeom prst="rect">
            <a:avLst/>
          </a:prstGeom>
          <a:noFill/>
          <a:ln/>
        </p:spPr>
        <p:txBody>
          <a:bodyPr wrap="square" lIns="0" tIns="27432" rIns="0" bIns="0" rtlCol="0" anchor="t">
            <a:noAutofit/>
          </a:bodyPr>
          <a:lstStyle>
            <a:lvl1pPr marL="0" indent="0">
              <a:buNone/>
              <a:defRPr lang="en-US" sz="1200" dirty="0">
                <a:solidFill>
                  <a:srgbClr val="6B7280"/>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Measured on: machine, inputs, warm-up, median of N runs, spread. Max 20 words.</a:t>
            </a:r>
            <a:endParaRPr lang="en-US" sz="1200" dirty="0"/>
          </a:p>
        </p:txBody>
      </p:sp>
      <p:sp>
        <p:nvSpPr>
          <p:cNvPr id="27" name="Text 14"/>
          <p:cNvSpPr/>
          <p:nvPr/>
        </p:nvSpPr>
        <p:spPr>
          <a:xfrm>
            <a:off x="8686800" y="2005153"/>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5</a:t>
            </a:r>
            <a:endParaRPr lang="en-US" sz="1400" dirty="0"/>
          </a:p>
        </p:txBody>
      </p:sp>
      <p:sp>
        <p:nvSpPr>
          <p:cNvPr id="28" name="Text 15"/>
          <p:cNvSpPr/>
          <p:nvPr/>
        </p:nvSpPr>
        <p:spPr>
          <a:xfrm>
            <a:off x="8942832" y="2005153"/>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What broke or surprised us</a:t>
            </a:r>
            <a:endParaRPr lang="en-US" sz="1400" dirty="0"/>
          </a:p>
        </p:txBody>
      </p:sp>
      <p:sp>
        <p:nvSpPr>
          <p:cNvPr id="29" name="Text 16"/>
          <p:cNvSpPr>
            <a:spLocks noGrp="1"/>
          </p:cNvSpPr>
          <p:nvPr>
            <p:ph type="body" idx="127" hasCustomPrompt="1"/>
          </p:nvPr>
        </p:nvSpPr>
        <p:spPr>
          <a:xfrm>
            <a:off x="8686800" y="2297760"/>
            <a:ext cx="3090672" cy="1725599"/>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One thing that failed, did not reproduce, or surprised you, and what it taught you. Max 40 words.</a:t>
            </a:r>
            <a:endParaRPr lang="en-US" sz="1400" dirty="0"/>
          </a:p>
        </p:txBody>
      </p:sp>
      <p:sp>
        <p:nvSpPr>
          <p:cNvPr id="30" name="Text 16"/>
          <p:cNvSpPr/>
          <p:nvPr/>
        </p:nvSpPr>
        <p:spPr>
          <a:xfrm>
            <a:off x="8686800" y="436169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6</a:t>
            </a:r>
            <a:endParaRPr lang="en-US" sz="1400" dirty="0"/>
          </a:p>
        </p:txBody>
      </p:sp>
      <p:sp>
        <p:nvSpPr>
          <p:cNvPr id="31" name="Text 17"/>
          <p:cNvSpPr/>
          <p:nvPr/>
        </p:nvSpPr>
        <p:spPr>
          <a:xfrm>
            <a:off x="8942832" y="4361690"/>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Next six weeks</a:t>
            </a:r>
            <a:endParaRPr lang="en-US" sz="1400" dirty="0"/>
          </a:p>
        </p:txBody>
      </p:sp>
      <p:sp>
        <p:nvSpPr>
          <p:cNvPr id="32" name="Text 18"/>
          <p:cNvSpPr>
            <a:spLocks noGrp="1"/>
          </p:cNvSpPr>
          <p:nvPr>
            <p:ph type="body" idx="130" hasCustomPrompt="1"/>
          </p:nvPr>
        </p:nvSpPr>
        <p:spPr>
          <a:xfrm>
            <a:off x="8686800" y="4654298"/>
            <a:ext cx="3090672"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experiment that decides the project, the biggest risk, and your fallback. Max 20 words.</a:t>
            </a:r>
            <a:endParaRPr lang="en-US" sz="1400" dirty="0"/>
          </a:p>
        </p:txBody>
      </p:sp>
      <p:sp>
        <p:nvSpPr>
          <p:cNvPr id="37" name="Shape 21"/>
          <p:cNvSpPr/>
          <p:nvPr/>
        </p:nvSpPr>
        <p:spPr>
          <a:xfrm>
            <a:off x="411480" y="5943600"/>
            <a:ext cx="11365992" cy="0"/>
          </a:xfrm>
          <a:prstGeom prst="line">
            <a:avLst/>
          </a:prstGeom>
          <a:noFill/>
          <a:ln w="9525">
            <a:solidFill>
              <a:srgbClr val="C9CED6"/>
            </a:solidFill>
            <a:prstDash val="solid"/>
          </a:ln>
        </p:spPr>
        <p:txBody>
          <a:bodyPr/>
          <a:lstStyle/>
          <a:p>
            <a:endParaRPr lang="en-US"/>
          </a:p>
        </p:txBody>
      </p:sp>
      <p:sp>
        <p:nvSpPr>
          <p:cNvPr id="38" name="Text 22"/>
          <p:cNvSpPr/>
          <p:nvPr/>
        </p:nvSpPr>
        <p:spPr>
          <a:xfrm>
            <a:off x="411480" y="6053328"/>
            <a:ext cx="1280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GATE CHECK</a:t>
            </a:r>
            <a:endParaRPr lang="en-US" sz="1000" dirty="0"/>
          </a:p>
        </p:txBody>
      </p:sp>
      <p:sp>
        <p:nvSpPr>
          <p:cNvPr id="39" name="Text 23"/>
          <p:cNvSpPr/>
          <p:nvPr/>
        </p:nvSpPr>
        <p:spPr>
          <a:xfrm>
            <a:off x="411480" y="6254496"/>
            <a:ext cx="1280160" cy="201168"/>
          </a:xfrm>
          <a:prstGeom prst="rect">
            <a:avLst/>
          </a:prstGeom>
          <a:noFill/>
          <a:ln/>
        </p:spPr>
        <p:txBody>
          <a:bodyPr wrap="square" lIns="0" tIns="0" rIns="0" bIns="0" rtlCol="0" anchor="t"/>
          <a:lstStyle/>
          <a:p>
            <a:pPr marL="0" indent="0">
              <a:buNone/>
            </a:pPr>
            <a:r>
              <a:rPr lang="en-US" sz="1000" dirty="0">
                <a:solidFill>
                  <a:srgbClr val="6B7280"/>
                </a:solidFill>
                <a:latin typeface="Arial" pitchFamily="34" charset="0"/>
                <a:ea typeface="Arial" pitchFamily="34" charset="-122"/>
                <a:cs typeface="Arial" pitchFamily="34" charset="-120"/>
              </a:rPr>
              <a:t>the five constraints</a:t>
            </a:r>
            <a:endParaRPr lang="en-US" sz="1000" dirty="0"/>
          </a:p>
        </p:txBody>
      </p:sp>
      <p:sp>
        <p:nvSpPr>
          <p:cNvPr id="40" name="Text 24"/>
          <p:cNvSpPr/>
          <p:nvPr/>
        </p:nvSpPr>
        <p:spPr>
          <a:xfrm>
            <a:off x="1783080"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Safe when wrong</a:t>
            </a:r>
            <a:endParaRPr lang="en-US" sz="1100" dirty="0"/>
          </a:p>
        </p:txBody>
      </p:sp>
      <p:sp>
        <p:nvSpPr>
          <p:cNvPr id="41" name="Text 25"/>
          <p:cNvSpPr>
            <a:spLocks noGrp="1"/>
          </p:cNvSpPr>
          <p:nvPr>
            <p:ph type="body" idx="139" hasCustomPrompt="1"/>
          </p:nvPr>
        </p:nvSpPr>
        <p:spPr>
          <a:xfrm>
            <a:off x="1783080"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2" name="Text 25"/>
          <p:cNvSpPr/>
          <p:nvPr/>
        </p:nvSpPr>
        <p:spPr>
          <a:xfrm>
            <a:off x="3803904"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Labels affordable</a:t>
            </a:r>
            <a:endParaRPr lang="en-US" sz="1100" dirty="0"/>
          </a:p>
        </p:txBody>
      </p:sp>
      <p:sp>
        <p:nvSpPr>
          <p:cNvPr id="43" name="Text 26"/>
          <p:cNvSpPr>
            <a:spLocks noGrp="1"/>
          </p:cNvSpPr>
          <p:nvPr>
            <p:ph type="body" idx="141" hasCustomPrompt="1"/>
          </p:nvPr>
        </p:nvSpPr>
        <p:spPr>
          <a:xfrm>
            <a:off x="3803904"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4" name="Text 26"/>
          <p:cNvSpPr/>
          <p:nvPr/>
        </p:nvSpPr>
        <p:spPr>
          <a:xfrm>
            <a:off x="5824728"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Fits the budget</a:t>
            </a:r>
            <a:endParaRPr lang="en-US" sz="1100" dirty="0"/>
          </a:p>
        </p:txBody>
      </p:sp>
      <p:sp>
        <p:nvSpPr>
          <p:cNvPr id="45" name="Text 27"/>
          <p:cNvSpPr>
            <a:spLocks noGrp="1"/>
          </p:cNvSpPr>
          <p:nvPr>
            <p:ph type="body" idx="143" hasCustomPrompt="1"/>
          </p:nvPr>
        </p:nvSpPr>
        <p:spPr>
          <a:xfrm>
            <a:off x="5824728"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6" name="Text 27"/>
          <p:cNvSpPr/>
          <p:nvPr/>
        </p:nvSpPr>
        <p:spPr>
          <a:xfrm>
            <a:off x="7845552"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Beats a tuned baseline</a:t>
            </a:r>
            <a:endParaRPr lang="en-US" sz="1100" dirty="0"/>
          </a:p>
        </p:txBody>
      </p:sp>
      <p:sp>
        <p:nvSpPr>
          <p:cNvPr id="47" name="Text 28"/>
          <p:cNvSpPr>
            <a:spLocks noGrp="1"/>
          </p:cNvSpPr>
          <p:nvPr>
            <p:ph type="body" idx="145" hasCustomPrompt="1"/>
          </p:nvPr>
        </p:nvSpPr>
        <p:spPr>
          <a:xfrm>
            <a:off x="7845552"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8" name="Text 28"/>
          <p:cNvSpPr/>
          <p:nvPr/>
        </p:nvSpPr>
        <p:spPr>
          <a:xfrm>
            <a:off x="9866376"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Survives a new workload</a:t>
            </a:r>
            <a:endParaRPr lang="en-US" sz="1100" dirty="0"/>
          </a:p>
        </p:txBody>
      </p:sp>
      <p:sp>
        <p:nvSpPr>
          <p:cNvPr id="49" name="Text 29"/>
          <p:cNvSpPr>
            <a:spLocks noGrp="1"/>
          </p:cNvSpPr>
          <p:nvPr>
            <p:ph type="body" idx="147" hasCustomPrompt="1"/>
          </p:nvPr>
        </p:nvSpPr>
        <p:spPr>
          <a:xfrm>
            <a:off x="9866376"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image" Target="../media/result.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a:spLocks noGrp="1"/>
          </p:cNvSpPr>
          <p:nvPr>
            <p:ph type="body" idx="101" hasCustomPrompt="1"/>
          </p:nvPr>
        </p:nvSpPr>
        <p:spPr/>
        <p:txBody>
          <a:bodyPr>
            <a:noAutofit/>
          </a:bodyPr>
          <a:lstStyle/>
          <a:p>
            <a:pPr marL="0" indent="0">
              <a:buNone/>
            </a:pPr>
            <a:r>
              <a:rPr lang="en-US" dirty="0"/>
              <a:t>Do Learned Indexes Still Win on Modern Hardware?</a:t>
            </a:r>
          </a:p>
        </p:txBody>
      </p:sp>
      <p:sp>
        <p:nvSpPr>
          <p:cNvPr id="5" name="Text 3"/>
          <p:cNvSpPr>
            <a:spLocks noGrp="1"/>
          </p:cNvSpPr>
          <p:nvPr>
            <p:ph type="body" idx="105" hasCustomPrompt="1"/>
          </p:nvPr>
        </p:nvSpPr>
        <p:spPr/>
        <p:txBody>
          <a:bodyPr>
            <a:noAutofit/>
          </a:bodyPr>
          <a:lstStyle/>
          <a:p>
            <a:pPr marL="0" indent="0">
              <a:buNone/>
            </a:pPr>
            <a:endParaRPr lang="en-US" dirty="0"/>
          </a:p>
        </p:txBody>
      </p:sp>
      <p:sp>
        <p:nvSpPr>
          <p:cNvPr id="6" name="Text 3"/>
          <p:cNvSpPr>
            <a:spLocks noGrp="1"/>
          </p:cNvSpPr>
          <p:nvPr>
            <p:ph type="body" idx="106" hasCustomPrompt="1"/>
          </p:nvPr>
        </p:nvSpPr>
        <p:spPr/>
        <p:txBody>
          <a:bodyPr>
            <a:noAutofit/>
          </a:bodyPr>
          <a:lstStyle/>
          <a:p>
            <a:pPr marL="0" indent="0">
              <a:buNone/>
            </a:pPr>
            <a:r>
              <a:rPr lang="en-US" dirty="0"/>
              <a:t>DATABASES</a:t>
            </a:r>
          </a:p>
        </p:txBody>
      </p:sp>
      <p:sp>
        <p:nvSpPr>
          <p:cNvPr id="7" name="Text 4"/>
          <p:cNvSpPr>
            <a:spLocks noGrp="1"/>
          </p:cNvSpPr>
          <p:nvPr>
            <p:ph type="body" idx="4294967295" hasCustomPrompt="1"/>
          </p:nvPr>
        </p:nvSpPr>
        <p:spPr>
          <a:xfrm>
            <a:off x="9921240" y="1051560"/>
            <a:ext cx="1856232" cy="292608"/>
          </a:xfrm>
          <a:prstGeom prst="rect">
            <a:avLst/>
          </a:prstGeom>
        </p:spPr>
        <p:txBody>
          <a:bodyPr wrap="square" lIns="0" tIns="27432" rIns="0" bIns="0" anchor="t">
            <a:noAutofit/>
          </a:bodyPr>
          <a:lstStyle/>
          <a:p>
            <a:pPr marL="0" indent="0">
              <a:buNone/>
            </a:pPr>
            <a:r>
              <a:rPr lang="en-US" sz="1600" b="1" dirty="0">
                <a:solidFill>
                  <a:srgbClr val="2E8A80"/>
                </a:solidFill>
                <a:latin typeface="Arial" pitchFamily="34" charset="0"/>
                <a:cs typeface="Arial" pitchFamily="34" charset="-120"/>
              </a:rPr>
              <a:t>On track</a:t>
            </a:r>
          </a:p>
        </p:txBody>
      </p:sp>
      <p:sp>
        <p:nvSpPr>
          <p:cNvPr id="8" name="Text 7"/>
          <p:cNvSpPr>
            <a:spLocks noGrp="1"/>
          </p:cNvSpPr>
          <p:nvPr>
            <p:ph type="body" idx="112" hasCustomPrompt="1"/>
          </p:nvPr>
        </p:nvSpPr>
        <p:spPr/>
        <p:txBody>
          <a:bodyPr>
            <a:noAutofit/>
          </a:bodyPr>
          <a:lstStyle/>
          <a:p>
            <a:pPr marL="0" indent="0">
              <a:buNone/>
            </a:pPr>
            <a:r>
              <a:rPr lang="en-US" dirty="0"/>
              <a:t>Today a B+tree decides where key k lies in a sorted array. A bad guess costs extra cache misses, about 100 ns each.</a:t>
            </a:r>
          </a:p>
        </p:txBody>
      </p:sp>
      <p:sp>
        <p:nvSpPr>
          <p:cNvPr id="9" name="Text 9"/>
          <p:cNvSpPr>
            <a:spLocks noGrp="1"/>
          </p:cNvSpPr>
          <p:nvPr>
            <p:ph type="body" idx="115" hasCustomPrompt="1"/>
          </p:nvPr>
        </p:nvSpPr>
        <p:spPr/>
        <p:txBody>
          <a:bodyPr>
            <a:noAutofit/>
          </a:bodyPr>
          <a:lstStyle/>
          <a:p>
            <a:pPr marL="0" indent="0">
              <a:buNone/>
            </a:pPr>
            <a:r>
              <a:rPr lang="en-US" dirty="0"/>
              <a:t>Binary search (std::lower_bound, -O3), the standard SOSD baseline. A tuned B+tree comes next. Today: 525 ns per lookup at 100M keys.</a:t>
            </a:r>
          </a:p>
        </p:txBody>
      </p:sp>
      <p:sp>
        <p:nvSpPr>
          <p:cNvPr id="10" name="Text 11"/>
          <p:cNvSpPr>
            <a:spLocks noGrp="1"/>
          </p:cNvSpPr>
          <p:nvPr>
            <p:ph type="body" idx="118" hasCustomPrompt="1"/>
          </p:nvPr>
        </p:nvSpPr>
        <p:spPr/>
        <p:txBody>
          <a:bodyPr>
            <a:noAutofit/>
          </a:bodyPr>
          <a:lstStyle/>
          <a:p>
            <a:pPr marL="0" indent="0">
              <a:buNone/>
            </a:pPr>
            <a:r>
              <a:rPr lang="en-US" dirty="0"/>
              <a:t>Learned indexes (RMI, PGM, RadixSpline, ALEX) learn key to position. Labels are free: each key's array position. One inference: a few multiply-adds plus a bounded local search.</a:t>
            </a:r>
          </a:p>
        </p:txBody>
      </p:sp>
      <p:pic>
        <p:nvPicPr>
          <p:cNvPr id="11" name="First result plot" descr="Line plot of median lookup latency versus number of keys (100K to 100M). Binary search rises from about 100 ns to 525 ns. The learned RMI stays between 32 and 81 ns on uniform keys and between 70 and 132 ns on lognormal keys."/>
          <p:cNvPicPr>
            <a:picLocks noGrp="1" noChangeAspect="1"/>
          </p:cNvPicPr>
          <p:nvPr>
            <p:ph type="pic" idx="122"/>
          </p:nvPr>
        </p:nvPicPr>
        <p:blipFill>
          <a:blip r:embed="rId9"/>
          <a:stretch>
            <a:fillRect/>
          </a:stretch>
        </p:blipFill>
        <p:spPr>
          <a:xfrm>
            <a:off x="4206240" y="1892807"/>
            <a:ext cx="4206240" cy="2606040"/>
          </a:xfrm>
          <a:prstGeom prst="rect">
            <a:avLst/>
          </a:prstGeom>
        </p:spPr>
      </p:pic>
      <p:sp>
        <p:nvSpPr>
          <p:cNvPr id="12" name="Text 14"/>
          <p:cNvSpPr>
            <a:spLocks noGrp="1"/>
          </p:cNvSpPr>
          <p:nvPr>
            <p:ph type="body" idx="123" hasCustomPrompt="1"/>
          </p:nvPr>
        </p:nvSpPr>
        <p:spPr/>
        <p:txBody>
          <a:bodyPr>
            <a:noAutofit/>
          </a:bodyPr>
          <a:lstStyle/>
          <a:p>
            <a:pPr marL="0" indent="0">
              <a:buNone/>
            </a:pPr>
            <a:r>
              <a:rPr lang="en-US" dirty="0"/>
              <a:t>At 100M uniform keys, the RMI cuts lookup time 6.5x: 525 to 81 ns.</a:t>
            </a:r>
          </a:p>
        </p:txBody>
      </p:sp>
      <p:sp>
        <p:nvSpPr>
          <p:cNvPr id="13" name="Text 14"/>
          <p:cNvSpPr>
            <a:spLocks noGrp="1"/>
          </p:cNvSpPr>
          <p:nvPr>
            <p:ph type="body" idx="124" hasCustomPrompt="1"/>
          </p:nvPr>
        </p:nvSpPr>
        <p:spPr/>
        <p:txBody>
          <a:bodyPr>
            <a:noAutofit/>
          </a:bodyPr>
          <a:lstStyle/>
          <a:p>
            <a:pPr marL="0" indent="0">
              <a:buNone/>
            </a:pPr>
            <a:r>
              <a:rPr lang="en-US" dirty="0"/>
              <a:t>AMD Ryzen AI 7 350 (Zen 5), pinned core, 2M random lookups, 1 warm-up, median of 5 runs, bars min/max.</a:t>
            </a:r>
          </a:p>
        </p:txBody>
      </p:sp>
      <p:sp>
        <p:nvSpPr>
          <p:cNvPr id="14" name="Text 16"/>
          <p:cNvSpPr>
            <a:spLocks noGrp="1"/>
          </p:cNvSpPr>
          <p:nvPr>
            <p:ph type="body" idx="127" hasCustomPrompt="1"/>
          </p:nvPr>
        </p:nvSpPr>
        <p:spPr/>
        <p:txBody>
          <a:bodyPr>
            <a:noAutofit/>
          </a:bodyPr>
          <a:lstStyle/>
          <a:p>
            <a:pPr marL="0" indent="0">
              <a:buNone/>
            </a:pPr>
            <a:r>
              <a:rPr lang="en-US" dirty="0"/>
              <a:t>Key distribution matters more than expected. With the same 2.3 MB model at 100M keys, lognormal lookups took 226 ns versus 81 ns for uniform. At 10M keys, a 58 KB model lost to binary search. Lesson: test skewed data.</a:t>
            </a:r>
          </a:p>
        </p:txBody>
      </p:sp>
      <p:sp>
        <p:nvSpPr>
          <p:cNvPr id="15" name="Text 18"/>
          <p:cNvSpPr>
            <a:spLocks noGrp="1"/>
          </p:cNvSpPr>
          <p:nvPr>
            <p:ph type="body" idx="130" hasCustomPrompt="1"/>
          </p:nvPr>
        </p:nvSpPr>
        <p:spPr/>
        <p:txBody>
          <a:bodyPr>
            <a:noAutofit/>
          </a:bodyPr>
          <a:lstStyle/>
          <a:p>
            <a:pPr marL="0" indent="0">
              <a:buNone/>
            </a:pPr>
            <a:r>
              <a:rPr lang="en-US" dirty="0"/>
              <a:t>Decisive run: SOSD, four datasets, perf, on AMD, Intel, ARM. Risk: counters blocked in WSL2/macOS. Fallback: AWS bare-metal.</a:t>
            </a:r>
          </a:p>
        </p:txBody>
      </p:sp>
      <p:sp>
        <p:nvSpPr>
          <p:cNvPr id="17" name="Text 25"/>
          <p:cNvSpPr>
            <a:spLocks noGrp="1"/>
          </p:cNvSpPr>
          <p:nvPr>
            <p:ph type="body" idx="139" hasCustomPrompt="1"/>
          </p:nvPr>
        </p:nvSpPr>
        <p:spPr/>
        <p:txBody>
          <a:bodyPr>
            <a:noAutofit/>
          </a:bodyPr>
          <a:lstStyle/>
          <a:p>
            <a:pPr marL="0" indent="0">
              <a:buNone/>
            </a:pPr>
            <a:r>
              <a:rPr lang="en-US" dirty="0"/>
              <a:t>Yes: search is bounded</a:t>
            </a:r>
          </a:p>
        </p:txBody>
      </p:sp>
      <p:sp>
        <p:nvSpPr>
          <p:cNvPr id="18" name="Text 26"/>
          <p:cNvSpPr>
            <a:spLocks noGrp="1"/>
          </p:cNvSpPr>
          <p:nvPr>
            <p:ph type="body" idx="141" hasCustomPrompt="1"/>
          </p:nvPr>
        </p:nvSpPr>
        <p:spPr/>
        <p:txBody>
          <a:bodyPr>
            <a:noAutofit/>
          </a:bodyPr>
          <a:lstStyle/>
          <a:p>
            <a:pPr marL="0" indent="0">
              <a:buNone/>
            </a:pPr>
            <a:r>
              <a:rPr lang="en-US" dirty="0"/>
              <a:t>Yes: labels = positions</a:t>
            </a:r>
          </a:p>
        </p:txBody>
      </p:sp>
      <p:sp>
        <p:nvSpPr>
          <p:cNvPr id="19" name="Text 27"/>
          <p:cNvSpPr>
            <a:spLocks noGrp="1"/>
          </p:cNvSpPr>
          <p:nvPr>
            <p:ph type="body" idx="143" hasCustomPrompt="1"/>
          </p:nvPr>
        </p:nvSpPr>
        <p:spPr/>
        <p:txBody>
          <a:bodyPr>
            <a:noAutofit/>
          </a:bodyPr>
          <a:lstStyle/>
          <a:p>
            <a:pPr marL="0" indent="0">
              <a:buNone/>
            </a:pPr>
            <a:r>
              <a:rPr lang="en-US" dirty="0"/>
              <a:t>Yes: model 0.3% of data</a:t>
            </a:r>
          </a:p>
        </p:txBody>
      </p:sp>
      <p:sp>
        <p:nvSpPr>
          <p:cNvPr id="20" name="Text 28"/>
          <p:cNvSpPr>
            <a:spLocks noGrp="1"/>
          </p:cNvSpPr>
          <p:nvPr>
            <p:ph type="body" idx="145" hasCustomPrompt="1"/>
          </p:nvPr>
        </p:nvSpPr>
        <p:spPr/>
        <p:txBody>
          <a:bodyPr>
            <a:noAutofit/>
          </a:bodyPr>
          <a:lstStyle/>
          <a:p>
            <a:pPr marL="0" indent="0">
              <a:buNone/>
            </a:pPr>
            <a:r>
              <a:rPr lang="en-US" dirty="0"/>
              <a:t>Unsure: no B+tree yet</a:t>
            </a:r>
          </a:p>
        </p:txBody>
      </p:sp>
      <p:sp>
        <p:nvSpPr>
          <p:cNvPr id="21" name="Text 29"/>
          <p:cNvSpPr>
            <a:spLocks noGrp="1"/>
          </p:cNvSpPr>
          <p:nvPr>
            <p:ph type="body" idx="147" hasCustomPrompt="1"/>
          </p:nvPr>
        </p:nvSpPr>
        <p:spPr/>
        <p:txBody>
          <a:bodyPr>
            <a:noAutofit/>
          </a:bodyPr>
          <a:lstStyle/>
          <a:p>
            <a:pPr marL="0" indent="0">
              <a:buNone/>
            </a:pPr>
            <a:r>
              <a:rPr lang="en-US" dirty="0"/>
              <a:t>Unsure: no inserts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306</Words>
  <Application>Microsoft Macintosh PowerPoint</Application>
  <PresentationFormat>Widescreen</PresentationFormat>
  <Paragraphs>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Courier New</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 4930 Midterm Progress Slide</dc:title>
  <dc:subject>PptxGenJS Presentation</dc:subject>
  <dc:creator>PptxGenJS</dc:creator>
  <cp:lastModifiedBy>Santosh Pandey</cp:lastModifiedBy>
  <cp:revision>7</cp:revision>
  <dcterms:created xsi:type="dcterms:W3CDTF">2026-10-25T13:38:56Z</dcterms:created>
  <dcterms:modified xsi:type="dcterms:W3CDTF">2026-10-25T20:40:11Z</dcterms:modified>
</cp:coreProperties>
</file>